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1" r:id="rId2"/>
    <p:sldId id="263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24387175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1E6"/>
    <a:srgbClr val="EDA966"/>
    <a:srgbClr val="EEA966"/>
    <a:srgbClr val="E1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056" autoAdjust="0"/>
  </p:normalViewPr>
  <p:slideViewPr>
    <p:cSldViewPr snapToGrid="0" showGuides="1">
      <p:cViewPr varScale="1">
        <p:scale>
          <a:sx n="81" d="100"/>
          <a:sy n="81" d="100"/>
        </p:scale>
        <p:origin x="300" y="96"/>
      </p:cViewPr>
      <p:guideLst>
        <p:guide orient="horz" pos="4320"/>
        <p:guide pos="76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32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8D5DF558-9530-6E40-82DE-F04C6FE88B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A2F89C2-501E-4F4C-9069-A5257001359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6677F-F13A-CF49-8277-D26E9F34E368}" type="datetimeFigureOut">
              <a:rPr lang="nl-NL" smtClean="0"/>
              <a:t>30-9-2026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4258D68-680A-314B-AE26-791CAC08C1B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E07F7F9-EF50-984A-BF5A-03DD99B5CF3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3E4D75-0DE1-F443-933B-AB348A351F3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9170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65E9C-BDE4-4976-8D1C-DA303E2F2E7F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19040-423E-42A6-8BB8-5EDE1F5CB82E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7764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5.emf"/><Relationship Id="rId7" Type="http://schemas.openxmlformats.org/officeDocument/2006/relationships/image" Target="../media/image7.png"/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8.svg"/><Relationship Id="rId7" Type="http://schemas.openxmlformats.org/officeDocument/2006/relationships/image" Target="../media/image16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9.emf"/><Relationship Id="rId9" Type="http://schemas.openxmlformats.org/officeDocument/2006/relationships/image" Target="../media/image18.emf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8.svg"/><Relationship Id="rId7" Type="http://schemas.openxmlformats.org/officeDocument/2006/relationships/image" Target="../media/image16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9.emf"/><Relationship Id="rId9" Type="http://schemas.openxmlformats.org/officeDocument/2006/relationships/image" Target="../media/image18.emf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emf"/><Relationship Id="rId3" Type="http://schemas.openxmlformats.org/officeDocument/2006/relationships/image" Target="../media/image7.png"/><Relationship Id="rId7" Type="http://schemas.openxmlformats.org/officeDocument/2006/relationships/image" Target="../media/image23.emf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emf"/><Relationship Id="rId5" Type="http://schemas.openxmlformats.org/officeDocument/2006/relationships/image" Target="../media/image21.png"/><Relationship Id="rId4" Type="http://schemas.openxmlformats.org/officeDocument/2006/relationships/image" Target="../media/image8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8.svg"/><Relationship Id="rId7" Type="http://schemas.openxmlformats.org/officeDocument/2006/relationships/image" Target="../media/image17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pn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7.png"/><Relationship Id="rId7" Type="http://schemas.openxmlformats.org/officeDocument/2006/relationships/image" Target="../media/image30.emf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8.svg"/><Relationship Id="rId9" Type="http://schemas.openxmlformats.org/officeDocument/2006/relationships/image" Target="../media/image32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emf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33.emf"/><Relationship Id="rId4" Type="http://schemas.openxmlformats.org/officeDocument/2006/relationships/image" Target="../media/image8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5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2.emf"/><Relationship Id="rId4" Type="http://schemas.openxmlformats.org/officeDocument/2006/relationships/image" Target="../media/image3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emf"/><Relationship Id="rId4" Type="http://schemas.openxmlformats.org/officeDocument/2006/relationships/image" Target="../media/image3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emf"/><Relationship Id="rId4" Type="http://schemas.openxmlformats.org/officeDocument/2006/relationships/image" Target="../media/image33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7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3.emf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33.emf"/><Relationship Id="rId4" Type="http://schemas.openxmlformats.org/officeDocument/2006/relationships/image" Target="../media/image8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emf"/><Relationship Id="rId5" Type="http://schemas.openxmlformats.org/officeDocument/2006/relationships/image" Target="../media/image34.png"/><Relationship Id="rId4" Type="http://schemas.openxmlformats.org/officeDocument/2006/relationships/image" Target="../media/image8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emf"/><Relationship Id="rId4" Type="http://schemas.openxmlformats.org/officeDocument/2006/relationships/image" Target="../media/image33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emf"/><Relationship Id="rId4" Type="http://schemas.openxmlformats.org/officeDocument/2006/relationships/image" Target="../media/image33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emf"/><Relationship Id="rId4" Type="http://schemas.openxmlformats.org/officeDocument/2006/relationships/image" Target="../media/image33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emf"/><Relationship Id="rId4" Type="http://schemas.openxmlformats.org/officeDocument/2006/relationships/image" Target="../media/image33.emf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6.svg"/><Relationship Id="rId7" Type="http://schemas.openxmlformats.org/officeDocument/2006/relationships/image" Target="../media/image4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2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4.emf"/><Relationship Id="rId4" Type="http://schemas.openxmlformats.org/officeDocument/2006/relationships/image" Target="../media/image43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6.emf"/><Relationship Id="rId4" Type="http://schemas.openxmlformats.org/officeDocument/2006/relationships/image" Target="../media/image45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emf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6.svg"/><Relationship Id="rId7" Type="http://schemas.openxmlformats.org/officeDocument/2006/relationships/image" Target="../media/image4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8.emf"/><Relationship Id="rId2" Type="http://schemas.openxmlformats.org/officeDocument/2006/relationships/image" Target="../media/image4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8.sv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1.png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emf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emf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emf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emf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6.svg"/><Relationship Id="rId7" Type="http://schemas.openxmlformats.org/officeDocument/2006/relationships/image" Target="../media/image4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50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2.emf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4.emf"/><Relationship Id="rId4" Type="http://schemas.openxmlformats.org/officeDocument/2006/relationships/image" Target="../media/image53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6.emf"/><Relationship Id="rId4" Type="http://schemas.openxmlformats.org/officeDocument/2006/relationships/image" Target="../media/image55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emf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6.svg"/><Relationship Id="rId7" Type="http://schemas.openxmlformats.org/officeDocument/2006/relationships/image" Target="../media/image4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0.emf"/><Relationship Id="rId2" Type="http://schemas.openxmlformats.org/officeDocument/2006/relationships/image" Target="../media/image5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8.sv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50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emf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emf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emf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emf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6.svg"/><Relationship Id="rId7" Type="http://schemas.openxmlformats.org/officeDocument/2006/relationships/image" Target="../media/image5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0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2.emf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4.emf"/><Relationship Id="rId4" Type="http://schemas.openxmlformats.org/officeDocument/2006/relationships/image" Target="../media/image63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6.emf"/><Relationship Id="rId4" Type="http://schemas.openxmlformats.org/officeDocument/2006/relationships/image" Target="../media/image65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0.emf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6.svg"/><Relationship Id="rId7" Type="http://schemas.openxmlformats.org/officeDocument/2006/relationships/image" Target="../media/image5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0.emf"/><Relationship Id="rId2" Type="http://schemas.openxmlformats.org/officeDocument/2006/relationships/image" Target="../media/image6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8.sv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0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0.emf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0.emf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0.emf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0.emf"/><Relationship Id="rId5" Type="http://schemas.openxmlformats.org/officeDocument/2006/relationships/image" Target="../media/image59.svg"/><Relationship Id="rId4" Type="http://schemas.openxmlformats.org/officeDocument/2006/relationships/image" Target="../media/image58.png"/></Relationships>
</file>

<file path=ppt/slideLayouts/_rels/slideLayout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6.svg"/><Relationship Id="rId7" Type="http://schemas.openxmlformats.org/officeDocument/2006/relationships/image" Target="../media/image6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70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71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2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4.emf"/><Relationship Id="rId4" Type="http://schemas.openxmlformats.org/officeDocument/2006/relationships/image" Target="../media/image73.pn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6.emf"/><Relationship Id="rId4" Type="http://schemas.openxmlformats.org/officeDocument/2006/relationships/image" Target="../media/image75.pn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0.emf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Layouts/_rels/slideLayout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emf"/><Relationship Id="rId3" Type="http://schemas.openxmlformats.org/officeDocument/2006/relationships/image" Target="../media/image6.svg"/><Relationship Id="rId7" Type="http://schemas.openxmlformats.org/officeDocument/2006/relationships/image" Target="../media/image69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8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70.emf"/><Relationship Id="rId2" Type="http://schemas.openxmlformats.org/officeDocument/2006/relationships/image" Target="../media/image77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8.svg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70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71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0.emf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0.emf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0.emf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0.emf"/><Relationship Id="rId5" Type="http://schemas.openxmlformats.org/officeDocument/2006/relationships/image" Target="../media/image69.svg"/><Relationship Id="rId4" Type="http://schemas.openxmlformats.org/officeDocument/2006/relationships/image" Target="../media/image6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 Voorbla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7">
            <a:extLst>
              <a:ext uri="{FF2B5EF4-FFF2-40B4-BE49-F238E27FC236}">
                <a16:creationId xmlns:a16="http://schemas.microsoft.com/office/drawing/2014/main" id="{6BE25A93-CD02-C441-97AC-2768F19634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7" y="4980"/>
            <a:ext cx="12183145" cy="1370603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04C8CB9-DE8D-1541-AB67-994B9F212A9C}"/>
              </a:ext>
            </a:extLst>
          </p:cNvPr>
          <p:cNvSpPr/>
          <p:nvPr userDrawn="1"/>
        </p:nvSpPr>
        <p:spPr>
          <a:xfrm>
            <a:off x="12193588" y="0"/>
            <a:ext cx="1219358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21478" y="2542233"/>
            <a:ext cx="11147700" cy="857494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82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21477" y="11471275"/>
            <a:ext cx="11147699" cy="1406127"/>
          </a:xfrm>
        </p:spPr>
        <p:txBody>
          <a:bodyPr anchor="b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27F9E93-62A0-B44B-9434-670A4EAA80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18235" y="-2"/>
            <a:ext cx="6057003" cy="25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6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 Voorbla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4">
            <a:extLst>
              <a:ext uri="{FF2B5EF4-FFF2-40B4-BE49-F238E27FC236}">
                <a16:creationId xmlns:a16="http://schemas.microsoft.com/office/drawing/2014/main" id="{E179A1CE-AC72-7949-8131-48F0624E0F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2000" cy="13715999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04C8CB9-DE8D-1541-AB67-994B9F212A9C}"/>
              </a:ext>
            </a:extLst>
          </p:cNvPr>
          <p:cNvSpPr/>
          <p:nvPr userDrawn="1"/>
        </p:nvSpPr>
        <p:spPr>
          <a:xfrm>
            <a:off x="12193588" y="0"/>
            <a:ext cx="1219358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21478" y="2542233"/>
            <a:ext cx="11147700" cy="857494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82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21477" y="11471275"/>
            <a:ext cx="11147699" cy="1406127"/>
          </a:xfrm>
        </p:spPr>
        <p:txBody>
          <a:bodyPr anchor="b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27F9E93-62A0-B44B-9434-670A4EAA80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18235" y="-2"/>
            <a:ext cx="6057003" cy="25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05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 Algemeen pijl links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398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5F7E6FAB-B9DD-D1D9-573F-B1C7C5CBFD2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398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BD886B1-97A1-BC26-CCEE-110EF0976B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CC081BA-E8E6-A38D-4759-882D32E1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207833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 Algemeen pijl links licht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D7E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5F7E6FAB-B9DD-D1D9-573F-B1C7C5CBFD2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398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BD886B1-97A1-BC26-CCEE-110EF0976B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2CC081BA-E8E6-A38D-4759-882D32E1B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18758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 Voorblad Groen 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804C8CB9-DE8D-1541-AB67-994B9F212A9C}"/>
              </a:ext>
            </a:extLst>
          </p:cNvPr>
          <p:cNvSpPr/>
          <p:nvPr userDrawn="1"/>
        </p:nvSpPr>
        <p:spPr>
          <a:xfrm>
            <a:off x="12193588" y="0"/>
            <a:ext cx="1219358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821478" y="2542233"/>
            <a:ext cx="11147700" cy="857494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82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821477" y="11471275"/>
            <a:ext cx="11147699" cy="1406127"/>
          </a:xfrm>
        </p:spPr>
        <p:txBody>
          <a:bodyPr anchor="b"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E899B76C-B2F7-4D46-87C1-E196CD0A6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27F9E93-62A0-B44B-9434-670A4EAA8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18235" y="-2"/>
            <a:ext cx="6057003" cy="254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71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 Voorblad Wit 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2411D4-6059-45D1-97BA-7BAC9191D0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10799" y="0"/>
            <a:ext cx="6030000" cy="2399305"/>
          </a:xfrm>
          <a:prstGeom prst="rect">
            <a:avLst/>
          </a:prstGeom>
        </p:spPr>
      </p:pic>
      <p:sp>
        <p:nvSpPr>
          <p:cNvPr id="10" name="Picture Placeholder 22">
            <a:extLst>
              <a:ext uri="{FF2B5EF4-FFF2-40B4-BE49-F238E27FC236}">
                <a16:creationId xmlns:a16="http://schemas.microsoft.com/office/drawing/2014/main" id="{E899B76C-B2F7-4D46-87C1-E196CD0A66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0122F6-8DDF-BE41-A95F-5963D675F9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21478" y="2542233"/>
            <a:ext cx="11147700" cy="857494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8200">
                <a:solidFill>
                  <a:srgbClr val="39870C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CEBBF28-B5D2-4F46-B25D-E7D92F07384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21477" y="11471275"/>
            <a:ext cx="11147699" cy="1406127"/>
          </a:xfrm>
        </p:spPr>
        <p:txBody>
          <a:bodyPr anchor="b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5371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 Voorblad Zonder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82411D4-6059-45D1-97BA-7BAC9191D0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10799" y="0"/>
            <a:ext cx="6030000" cy="239930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079E5B-1629-B140-8348-9D8D7AB456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21478" y="2542233"/>
            <a:ext cx="11147700" cy="8574946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8200">
                <a:solidFill>
                  <a:srgbClr val="39870C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BE74E9E-956F-0D46-BF54-083418D449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21477" y="11471275"/>
            <a:ext cx="11147699" cy="1406127"/>
          </a:xfrm>
        </p:spPr>
        <p:txBody>
          <a:bodyPr anchor="b"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subtitle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41533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 Inhoudsopga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7BD0246A-8E6E-4946-A02D-8616ACF30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756" y="3276600"/>
            <a:ext cx="11366500" cy="1043940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E1CBCC64-04B8-C243-A86B-3A7A90B6BB74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E9410F25-8C48-0A49-B0B1-9F14567840AC}"/>
              </a:ext>
            </a:extLst>
          </p:cNvPr>
          <p:cNvSpPr txBox="1"/>
          <p:nvPr userDrawn="1"/>
        </p:nvSpPr>
        <p:spPr>
          <a:xfrm>
            <a:off x="1348754" y="2113380"/>
            <a:ext cx="21689663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Inhoudsopgave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7E0103F8-A988-044D-A59D-A7EBE351F2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8754" y="3726000"/>
            <a:ext cx="1028686" cy="7740564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32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1</a:t>
            </a:r>
          </a:p>
          <a:p>
            <a:pPr lvl="0"/>
            <a:r>
              <a:rPr lang="nl-NL" dirty="0"/>
              <a:t>2</a:t>
            </a:r>
          </a:p>
          <a:p>
            <a:pPr lvl="0"/>
            <a:r>
              <a:rPr lang="nl-NL" dirty="0"/>
              <a:t>3</a:t>
            </a:r>
          </a:p>
          <a:p>
            <a:pPr lvl="0"/>
            <a:r>
              <a:rPr lang="nl-NL" dirty="0"/>
              <a:t>4</a:t>
            </a:r>
          </a:p>
          <a:p>
            <a:pPr lvl="0"/>
            <a:r>
              <a:rPr lang="nl-NL" dirty="0"/>
              <a:t>5</a:t>
            </a:r>
          </a:p>
          <a:p>
            <a:pPr lvl="0"/>
            <a:r>
              <a:rPr lang="nl-NL" dirty="0"/>
              <a:t>6</a:t>
            </a:r>
          </a:p>
          <a:p>
            <a:pPr lvl="0"/>
            <a:r>
              <a:rPr lang="nl-NL" dirty="0"/>
              <a:t>7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9C183165-1A04-BA4F-9169-DAB73C1DFA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89504" y="3726000"/>
            <a:ext cx="8564071" cy="7740564"/>
          </a:xfrm>
        </p:spPr>
        <p:txBody>
          <a:bodyPr anchor="ctr" anchorCtr="0">
            <a:noAutofit/>
          </a:bodyPr>
          <a:lstStyle>
            <a:lvl1pPr marL="0" marR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</p:txBody>
      </p:sp>
      <p:sp>
        <p:nvSpPr>
          <p:cNvPr id="28" name="Text Placeholder 13">
            <a:extLst>
              <a:ext uri="{FF2B5EF4-FFF2-40B4-BE49-F238E27FC236}">
                <a16:creationId xmlns:a16="http://schemas.microsoft.com/office/drawing/2014/main" id="{6B015A94-03F1-5543-9EDD-8F1E152204A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34786" y="3726000"/>
            <a:ext cx="1028686" cy="7740564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32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8</a:t>
            </a:r>
          </a:p>
          <a:p>
            <a:pPr lvl="0"/>
            <a:r>
              <a:rPr lang="nl-NL" dirty="0"/>
              <a:t>9</a:t>
            </a:r>
          </a:p>
          <a:p>
            <a:pPr lvl="0"/>
            <a:r>
              <a:rPr lang="nl-NL" dirty="0"/>
              <a:t>10</a:t>
            </a:r>
          </a:p>
          <a:p>
            <a:pPr lvl="0"/>
            <a:r>
              <a:rPr lang="nl-NL" dirty="0"/>
              <a:t>11</a:t>
            </a:r>
          </a:p>
          <a:p>
            <a:pPr lvl="0"/>
            <a:r>
              <a:rPr lang="nl-NL" dirty="0"/>
              <a:t>12</a:t>
            </a:r>
          </a:p>
          <a:p>
            <a:pPr lvl="0"/>
            <a:r>
              <a:rPr lang="nl-NL" dirty="0"/>
              <a:t>13</a:t>
            </a:r>
          </a:p>
          <a:p>
            <a:pPr lvl="0"/>
            <a:r>
              <a:rPr lang="nl-NL" dirty="0"/>
              <a:t>14</a:t>
            </a: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2E725B17-0870-0347-A5B5-365504C0FA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575536" y="3726000"/>
            <a:ext cx="8564071" cy="7740564"/>
          </a:xfrm>
        </p:spPr>
        <p:txBody>
          <a:bodyPr anchor="ctr" anchorCtr="0">
            <a:noAutofit/>
          </a:bodyPr>
          <a:lstStyle>
            <a:lvl1pPr marL="0" marR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</p:txBody>
      </p:sp>
    </p:spTree>
    <p:extLst>
      <p:ext uri="{BB962C8B-B14F-4D97-AF65-F5344CB8AC3E}">
        <p14:creationId xmlns:p14="http://schemas.microsoft.com/office/powerpoint/2010/main" val="349457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 Algemeen beeld links, inhoudsopgav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976D9D2-CC83-5DCD-5614-B04CFE5FA652}"/>
              </a:ext>
            </a:extLst>
          </p:cNvPr>
          <p:cNvSpPr/>
          <p:nvPr userDrawn="1"/>
        </p:nvSpPr>
        <p:spPr>
          <a:xfrm>
            <a:off x="-1" y="-1"/>
            <a:ext cx="12193587" cy="1371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 dirty="0"/>
              <a:t>26 augustus 2021</a:t>
            </a:r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2" name="Straight Connector 11">
            <a:extLst>
              <a:ext uri="{FF2B5EF4-FFF2-40B4-BE49-F238E27FC236}">
                <a16:creationId xmlns:a16="http://schemas.microsoft.com/office/drawing/2014/main" id="{F44DAD3A-E0FA-87DC-8EA6-D872E66BE147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398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5066E95-12B1-AC62-194E-F23A760381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Inhoudsopgave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BD7F37C4-10D6-9285-78C2-24B6A9A959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933600" y="3726000"/>
            <a:ext cx="1028686" cy="7740564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32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1</a:t>
            </a:r>
          </a:p>
          <a:p>
            <a:pPr lvl="0"/>
            <a:r>
              <a:rPr lang="nl-NL" dirty="0"/>
              <a:t>2</a:t>
            </a:r>
          </a:p>
          <a:p>
            <a:pPr lvl="0"/>
            <a:r>
              <a:rPr lang="nl-NL" dirty="0"/>
              <a:t>3</a:t>
            </a:r>
          </a:p>
          <a:p>
            <a:pPr lvl="0"/>
            <a:r>
              <a:rPr lang="nl-NL" dirty="0"/>
              <a:t>4</a:t>
            </a:r>
          </a:p>
          <a:p>
            <a:pPr lvl="0"/>
            <a:r>
              <a:rPr lang="nl-NL" dirty="0"/>
              <a:t>5</a:t>
            </a:r>
          </a:p>
          <a:p>
            <a:pPr lvl="0"/>
            <a:r>
              <a:rPr lang="nl-NL" dirty="0"/>
              <a:t>6</a:t>
            </a:r>
          </a:p>
          <a:p>
            <a:pPr lvl="0"/>
            <a:r>
              <a:rPr lang="nl-NL" dirty="0"/>
              <a:t>7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6321393A-C473-09B9-7706-50661EFC6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474350" y="3726000"/>
            <a:ext cx="8564071" cy="7740564"/>
          </a:xfrm>
        </p:spPr>
        <p:txBody>
          <a:bodyPr anchor="ctr" anchorCtr="0">
            <a:noAutofit/>
          </a:bodyPr>
          <a:lstStyle>
            <a:lvl1pPr marL="0" marR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>
                <a:solidFill>
                  <a:schemeClr val="tx1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  <a:p>
            <a:pPr marL="0" marR="0" lvl="0" indent="0" algn="l" defTabSz="182880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dirty="0"/>
              <a:t>Plaats hier uw titels</a:t>
            </a:r>
          </a:p>
        </p:txBody>
      </p:sp>
    </p:spTree>
    <p:extLst>
      <p:ext uri="{BB962C8B-B14F-4D97-AF65-F5344CB8AC3E}">
        <p14:creationId xmlns:p14="http://schemas.microsoft.com/office/powerpoint/2010/main" val="220848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0 Algemeen Tussenblad met domeinen">
    <p:bg>
      <p:bgPr>
        <a:solidFill>
          <a:srgbClr val="398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1CE93877-59B8-4EC7-9255-6B4F1FA33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Rectangle 7">
            <a:extLst>
              <a:ext uri="{FF2B5EF4-FFF2-40B4-BE49-F238E27FC236}">
                <a16:creationId xmlns:a16="http://schemas.microsoft.com/office/drawing/2014/main" id="{BE336A49-3D0D-7A41-A12C-EE79D6FB82BC}"/>
              </a:ext>
            </a:extLst>
          </p:cNvPr>
          <p:cNvSpPr/>
          <p:nvPr userDrawn="1"/>
        </p:nvSpPr>
        <p:spPr>
          <a:xfrm>
            <a:off x="11815587" y="4671236"/>
            <a:ext cx="756000" cy="904476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7" name="Tekstvak 4">
            <a:extLst>
              <a:ext uri="{FF2B5EF4-FFF2-40B4-BE49-F238E27FC236}">
                <a16:creationId xmlns:a16="http://schemas.microsoft.com/office/drawing/2014/main" id="{150372EC-C56C-E04E-A243-C85DACBF9554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Regie op stelsels</a:t>
            </a:r>
            <a:br>
              <a:rPr lang="nl-NL" sz="4100" dirty="0">
                <a:solidFill>
                  <a:schemeClr val="bg1"/>
                </a:solidFill>
              </a:rPr>
            </a:br>
            <a:r>
              <a:rPr lang="nl-NL" sz="4100" dirty="0">
                <a:solidFill>
                  <a:schemeClr val="bg1"/>
                </a:solidFill>
              </a:rPr>
              <a:t>en standaarden</a:t>
            </a:r>
          </a:p>
        </p:txBody>
      </p:sp>
      <p:sp>
        <p:nvSpPr>
          <p:cNvPr id="18" name="Oval 24">
            <a:extLst>
              <a:ext uri="{FF2B5EF4-FFF2-40B4-BE49-F238E27FC236}">
                <a16:creationId xmlns:a16="http://schemas.microsoft.com/office/drawing/2014/main" id="{54FCBD83-55D6-BC44-A9EB-94614C54CFF6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9" name="Oval 25">
            <a:extLst>
              <a:ext uri="{FF2B5EF4-FFF2-40B4-BE49-F238E27FC236}">
                <a16:creationId xmlns:a16="http://schemas.microsoft.com/office/drawing/2014/main" id="{AF0B8F4F-13B3-E04D-937F-43F7185E4F39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0" name="Oval 26">
            <a:extLst>
              <a:ext uri="{FF2B5EF4-FFF2-40B4-BE49-F238E27FC236}">
                <a16:creationId xmlns:a16="http://schemas.microsoft.com/office/drawing/2014/main" id="{8AD0F9EF-6BC1-6846-AB02-97A075A1A21F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A107C61F-B063-C649-BE0D-15E229541C34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2" name="Oval 28">
            <a:extLst>
              <a:ext uri="{FF2B5EF4-FFF2-40B4-BE49-F238E27FC236}">
                <a16:creationId xmlns:a16="http://schemas.microsoft.com/office/drawing/2014/main" id="{01CB9FC1-C0E6-5543-B860-7C20BE4FD353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3424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1 Algemeen Tussenblad met domeinen en tekst">
    <p:bg>
      <p:bgPr>
        <a:solidFill>
          <a:srgbClr val="398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C61F54-1A50-4BA3-B44E-30A710F124F9}"/>
              </a:ext>
            </a:extLst>
          </p:cNvPr>
          <p:cNvSpPr/>
          <p:nvPr userDrawn="1"/>
        </p:nvSpPr>
        <p:spPr>
          <a:xfrm>
            <a:off x="11815587" y="4671236"/>
            <a:ext cx="756000" cy="904476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CE93877-59B8-4EC7-9255-6B4F1FA33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2EBB3B-2EF0-6E4D-83C1-1DC3A638E6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89010" y="4404188"/>
            <a:ext cx="9637381" cy="3870324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7" name="Tekstvak 4">
            <a:extLst>
              <a:ext uri="{FF2B5EF4-FFF2-40B4-BE49-F238E27FC236}">
                <a16:creationId xmlns:a16="http://schemas.microsoft.com/office/drawing/2014/main" id="{F1D0750D-6ACF-324C-BA7D-FD4A25CEF284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Regie op stelsels</a:t>
            </a:r>
            <a:br>
              <a:rPr lang="nl-NL" sz="4100" dirty="0">
                <a:solidFill>
                  <a:schemeClr val="bg1"/>
                </a:solidFill>
              </a:rPr>
            </a:br>
            <a:r>
              <a:rPr lang="nl-NL" sz="4100" dirty="0">
                <a:solidFill>
                  <a:schemeClr val="bg1"/>
                </a:solidFill>
              </a:rPr>
              <a:t>en standaarden</a:t>
            </a: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CB46B796-5CEB-D04D-B131-5C21E5B2CF96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0" name="Oval 25">
            <a:extLst>
              <a:ext uri="{FF2B5EF4-FFF2-40B4-BE49-F238E27FC236}">
                <a16:creationId xmlns:a16="http://schemas.microsoft.com/office/drawing/2014/main" id="{1B72E4A9-EE16-8342-ABCB-92A23FF10020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1" name="Oval 26">
            <a:extLst>
              <a:ext uri="{FF2B5EF4-FFF2-40B4-BE49-F238E27FC236}">
                <a16:creationId xmlns:a16="http://schemas.microsoft.com/office/drawing/2014/main" id="{D77A44B9-CD33-4C48-B653-5BEFFFB88B65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2" name="Oval 27">
            <a:extLst>
              <a:ext uri="{FF2B5EF4-FFF2-40B4-BE49-F238E27FC236}">
                <a16:creationId xmlns:a16="http://schemas.microsoft.com/office/drawing/2014/main" id="{7595F974-743F-E542-A571-D42FD8B408A4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3" name="Oval 28">
            <a:extLst>
              <a:ext uri="{FF2B5EF4-FFF2-40B4-BE49-F238E27FC236}">
                <a16:creationId xmlns:a16="http://schemas.microsoft.com/office/drawing/2014/main" id="{7962FD1F-4EFB-3946-9F47-4284E7126C4E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8118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2 Algemeen Tussenblad met 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r>
              <a:rPr lang="nl-NL"/>
              <a:t>Click to edit Master title style</a:t>
            </a:r>
            <a:endParaRPr lang="nl-NL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93B22A8E-625A-4CDE-93A6-D2D7A82C9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CCA25A83-7E2E-7E4C-8965-15491CA0FB20}"/>
              </a:ext>
            </a:extLst>
          </p:cNvPr>
          <p:cNvSpPr/>
          <p:nvPr userDrawn="1"/>
        </p:nvSpPr>
        <p:spPr>
          <a:xfrm>
            <a:off x="11718387" y="11264400"/>
            <a:ext cx="950400" cy="24516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40778D8B-1CAB-2D48-83D0-E823B7F9BB60}"/>
              </a:ext>
            </a:extLst>
          </p:cNvPr>
          <p:cNvSpPr/>
          <p:nvPr userDrawn="1"/>
        </p:nvSpPr>
        <p:spPr>
          <a:xfrm>
            <a:off x="11718387" y="10803599"/>
            <a:ext cx="950400" cy="950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620682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3 Algemeen Tussenblad Lichtgroen met tekst">
    <p:bg>
      <p:bgPr>
        <a:solidFill>
          <a:srgbClr val="D7E7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93B22A8E-625A-4CDE-93A6-D2D7A82C9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8A547C9E-C318-D84A-ABA6-BAEDF185A8A9}"/>
              </a:ext>
            </a:extLst>
          </p:cNvPr>
          <p:cNvSpPr/>
          <p:nvPr userDrawn="1"/>
        </p:nvSpPr>
        <p:spPr>
          <a:xfrm>
            <a:off x="11718387" y="11264400"/>
            <a:ext cx="950400" cy="24516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F990B385-969F-2B45-94DD-74D54BD41677}"/>
              </a:ext>
            </a:extLst>
          </p:cNvPr>
          <p:cNvSpPr/>
          <p:nvPr userDrawn="1"/>
        </p:nvSpPr>
        <p:spPr>
          <a:xfrm>
            <a:off x="11718387" y="10803599"/>
            <a:ext cx="950400" cy="950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974427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4 Algemeen Beeld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636F92F-B88A-4976-9DCD-56BF05853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2048779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5 Algemeen Voorbeeld foto –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Afbeelding 3">
            <a:extLst>
              <a:ext uri="{FF2B5EF4-FFF2-40B4-BE49-F238E27FC236}">
                <a16:creationId xmlns:a16="http://schemas.microsoft.com/office/drawing/2014/main" id="{4A1852F2-A022-F64B-B142-C625F02FDD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2000" cy="13715995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2171942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6 Algemeen Voorbeeld illustratie –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53094-6C0B-2140-97D9-4001BC1131BF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D7E7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BE5B5D6C-990E-A342-8BA0-FAFD15634B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3300ADE-20FA-0B4B-B767-733B6AE907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202" y="2371813"/>
            <a:ext cx="8131181" cy="838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65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7 Algemeen Twee kolommen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10005046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1007070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7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A954BB3E-ADCE-A741-83C0-46CE52CC50B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55957BE6-15DD-E74F-94EE-159CD092F6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9E233DF-287A-024B-A85C-C41538AA28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</p:spTree>
    <p:extLst>
      <p:ext uri="{BB962C8B-B14F-4D97-AF65-F5344CB8AC3E}">
        <p14:creationId xmlns:p14="http://schemas.microsoft.com/office/powerpoint/2010/main" val="42359638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8 Algemeen Tekst over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21710640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398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6" y="3726000"/>
            <a:ext cx="21710641" cy="8702675"/>
          </a:xfrm>
        </p:spPr>
        <p:txBody>
          <a:bodyPr numCol="2" spcCol="108000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637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9 Algemeen Tabel of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755" y="1725278"/>
            <a:ext cx="21689664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7BF9B7D8-7E90-244C-8B2F-C2B69B36DED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348756" y="3714749"/>
            <a:ext cx="21689664" cy="8640425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114999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0 Algemeen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E97658EF-1099-4CB2-8E8E-A889FB17C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A14DAA77-4ECB-1E45-9F58-1266A1D41F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7123"/>
            <a:ext cx="24387175" cy="11788877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102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 Missie Logius">
    <p:bg>
      <p:bgPr>
        <a:solidFill>
          <a:srgbClr val="398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C61F54-1A50-4BA3-B44E-30A710F124F9}"/>
              </a:ext>
            </a:extLst>
          </p:cNvPr>
          <p:cNvSpPr/>
          <p:nvPr userDrawn="1"/>
        </p:nvSpPr>
        <p:spPr>
          <a:xfrm>
            <a:off x="11815587" y="4671236"/>
            <a:ext cx="756000" cy="904476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CE93877-59B8-4EC7-9255-6B4F1FA33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7" name="Tekstvak 4">
            <a:extLst>
              <a:ext uri="{FF2B5EF4-FFF2-40B4-BE49-F238E27FC236}">
                <a16:creationId xmlns:a16="http://schemas.microsoft.com/office/drawing/2014/main" id="{F1D0750D-6ACF-324C-BA7D-FD4A25CEF284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Regie op stelsels</a:t>
            </a:r>
            <a:br>
              <a:rPr lang="nl-NL" sz="4100" dirty="0">
                <a:solidFill>
                  <a:schemeClr val="bg1"/>
                </a:solidFill>
              </a:rPr>
            </a:br>
            <a:r>
              <a:rPr lang="nl-NL" sz="4100" dirty="0">
                <a:solidFill>
                  <a:schemeClr val="bg1"/>
                </a:solidFill>
              </a:rPr>
              <a:t>en standaarden</a:t>
            </a: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CB46B796-5CEB-D04D-B131-5C21E5B2CF96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0" name="Oval 25">
            <a:extLst>
              <a:ext uri="{FF2B5EF4-FFF2-40B4-BE49-F238E27FC236}">
                <a16:creationId xmlns:a16="http://schemas.microsoft.com/office/drawing/2014/main" id="{1B72E4A9-EE16-8342-ABCB-92A23FF10020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1" name="Oval 26">
            <a:extLst>
              <a:ext uri="{FF2B5EF4-FFF2-40B4-BE49-F238E27FC236}">
                <a16:creationId xmlns:a16="http://schemas.microsoft.com/office/drawing/2014/main" id="{D77A44B9-CD33-4C48-B653-5BEFFFB88B65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2" name="Oval 27">
            <a:extLst>
              <a:ext uri="{FF2B5EF4-FFF2-40B4-BE49-F238E27FC236}">
                <a16:creationId xmlns:a16="http://schemas.microsoft.com/office/drawing/2014/main" id="{7595F974-743F-E542-A571-D42FD8B408A4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3" name="Oval 28">
            <a:extLst>
              <a:ext uri="{FF2B5EF4-FFF2-40B4-BE49-F238E27FC236}">
                <a16:creationId xmlns:a16="http://schemas.microsoft.com/office/drawing/2014/main" id="{7962FD1F-4EFB-3946-9F47-4284E7126C4E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3CC1A137-8D86-F840-891B-FB29AEFBBF4D}"/>
              </a:ext>
            </a:extLst>
          </p:cNvPr>
          <p:cNvSpPr txBox="1"/>
          <p:nvPr userDrawn="1"/>
        </p:nvSpPr>
        <p:spPr>
          <a:xfrm>
            <a:off x="13586009" y="4294460"/>
            <a:ext cx="8194999" cy="73883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nl-NL" sz="4100" b="1" dirty="0">
                <a:solidFill>
                  <a:schemeClr val="bg1"/>
                </a:solidFill>
              </a:rPr>
              <a:t>De Missie van Logius</a:t>
            </a:r>
          </a:p>
          <a:p>
            <a:pPr algn="l"/>
            <a:endParaRPr lang="nl-NL" sz="3200" dirty="0">
              <a:solidFill>
                <a:schemeClr val="bg1"/>
              </a:solidFill>
            </a:endParaRPr>
          </a:p>
          <a:p>
            <a:pPr algn="l"/>
            <a:r>
              <a:rPr lang="nl-NL" sz="2400" dirty="0">
                <a:solidFill>
                  <a:schemeClr val="bg1"/>
                </a:solidFill>
              </a:rPr>
              <a:t>Logius gelooft in een overheid die altijd, overal</a:t>
            </a:r>
          </a:p>
          <a:p>
            <a:pPr algn="l"/>
            <a:r>
              <a:rPr lang="nl-NL" sz="2400" dirty="0">
                <a:solidFill>
                  <a:schemeClr val="bg1"/>
                </a:solidFill>
              </a:rPr>
              <a:t>en voor iedereen beschikbaar en toegankelijk is.</a:t>
            </a:r>
          </a:p>
          <a:p>
            <a:pPr algn="l"/>
            <a:endParaRPr lang="nl-NL" sz="2400" dirty="0">
              <a:solidFill>
                <a:schemeClr val="bg1"/>
              </a:solidFill>
            </a:endParaRPr>
          </a:p>
          <a:p>
            <a:pPr algn="l"/>
            <a:r>
              <a:rPr lang="nl-NL" sz="2400" dirty="0">
                <a:solidFill>
                  <a:schemeClr val="bg1"/>
                </a:solidFill>
              </a:rPr>
              <a:t>Daarom bieden we publieke organisaties producten en diensten waarmee we er samen voor zorgen dat burgers en bedrijven digitaal zaken kunnen regelen met de overheid.</a:t>
            </a:r>
          </a:p>
          <a:p>
            <a:pPr algn="l"/>
            <a:endParaRPr lang="nl-NL" sz="2400" dirty="0">
              <a:solidFill>
                <a:schemeClr val="bg1"/>
              </a:solidFill>
            </a:endParaRPr>
          </a:p>
          <a:p>
            <a:pPr algn="l"/>
            <a:r>
              <a:rPr lang="nl-NL" sz="2400" dirty="0">
                <a:solidFill>
                  <a:schemeClr val="bg1"/>
                </a:solidFill>
              </a:rPr>
              <a:t>Dat doen we vakkundig, betrouwbaar en</a:t>
            </a:r>
          </a:p>
          <a:p>
            <a:pPr algn="l"/>
            <a:r>
              <a:rPr lang="nl-NL" sz="2400" dirty="0">
                <a:solidFill>
                  <a:schemeClr val="bg1"/>
                </a:solidFill>
              </a:rPr>
              <a:t>in eenvoud. </a:t>
            </a:r>
          </a:p>
        </p:txBody>
      </p:sp>
    </p:spTree>
    <p:extLst>
      <p:ext uri="{BB962C8B-B14F-4D97-AF65-F5344CB8AC3E}">
        <p14:creationId xmlns:p14="http://schemas.microsoft.com/office/powerpoint/2010/main" val="3844054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2 Centrale boodschap Logius">
    <p:bg>
      <p:bgPr>
        <a:solidFill>
          <a:srgbClr val="3987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6C61F54-1A50-4BA3-B44E-30A710F124F9}"/>
              </a:ext>
            </a:extLst>
          </p:cNvPr>
          <p:cNvSpPr/>
          <p:nvPr userDrawn="1"/>
        </p:nvSpPr>
        <p:spPr>
          <a:xfrm>
            <a:off x="11815587" y="4671236"/>
            <a:ext cx="756000" cy="9044763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1CE93877-59B8-4EC7-9255-6B4F1FA332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7" name="Tekstvak 4">
            <a:extLst>
              <a:ext uri="{FF2B5EF4-FFF2-40B4-BE49-F238E27FC236}">
                <a16:creationId xmlns:a16="http://schemas.microsoft.com/office/drawing/2014/main" id="{F1D0750D-6ACF-324C-BA7D-FD4A25CEF284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Regie op stelsels</a:t>
            </a:r>
            <a:br>
              <a:rPr lang="nl-NL" sz="4100" dirty="0">
                <a:solidFill>
                  <a:schemeClr val="bg1"/>
                </a:solidFill>
              </a:rPr>
            </a:br>
            <a:r>
              <a:rPr lang="nl-NL" sz="4100" dirty="0">
                <a:solidFill>
                  <a:schemeClr val="bg1"/>
                </a:solidFill>
              </a:rPr>
              <a:t>en standaarden</a:t>
            </a:r>
          </a:p>
        </p:txBody>
      </p:sp>
      <p:sp>
        <p:nvSpPr>
          <p:cNvPr id="19" name="Oval 24">
            <a:extLst>
              <a:ext uri="{FF2B5EF4-FFF2-40B4-BE49-F238E27FC236}">
                <a16:creationId xmlns:a16="http://schemas.microsoft.com/office/drawing/2014/main" id="{CB46B796-5CEB-D04D-B131-5C21E5B2CF96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0" name="Oval 25">
            <a:extLst>
              <a:ext uri="{FF2B5EF4-FFF2-40B4-BE49-F238E27FC236}">
                <a16:creationId xmlns:a16="http://schemas.microsoft.com/office/drawing/2014/main" id="{1B72E4A9-EE16-8342-ABCB-92A23FF10020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1" name="Oval 26">
            <a:extLst>
              <a:ext uri="{FF2B5EF4-FFF2-40B4-BE49-F238E27FC236}">
                <a16:creationId xmlns:a16="http://schemas.microsoft.com/office/drawing/2014/main" id="{D77A44B9-CD33-4C48-B653-5BEFFFB88B65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2" name="Oval 27">
            <a:extLst>
              <a:ext uri="{FF2B5EF4-FFF2-40B4-BE49-F238E27FC236}">
                <a16:creationId xmlns:a16="http://schemas.microsoft.com/office/drawing/2014/main" id="{7595F974-743F-E542-A571-D42FD8B408A4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3" name="Oval 28">
            <a:extLst>
              <a:ext uri="{FF2B5EF4-FFF2-40B4-BE49-F238E27FC236}">
                <a16:creationId xmlns:a16="http://schemas.microsoft.com/office/drawing/2014/main" id="{7962FD1F-4EFB-3946-9F47-4284E7126C4E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3CC1A137-8D86-F840-891B-FB29AEFBBF4D}"/>
              </a:ext>
            </a:extLst>
          </p:cNvPr>
          <p:cNvSpPr txBox="1"/>
          <p:nvPr userDrawn="1"/>
        </p:nvSpPr>
        <p:spPr>
          <a:xfrm>
            <a:off x="13586009" y="4294460"/>
            <a:ext cx="6024605" cy="738835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NL" sz="4100" b="1" dirty="0">
                <a:solidFill>
                  <a:schemeClr val="bg1"/>
                </a:solidFill>
              </a:rPr>
              <a:t>Samen zorgen we voor een digitale overheid die werkt voor iedereen. </a:t>
            </a:r>
          </a:p>
        </p:txBody>
      </p:sp>
    </p:spTree>
    <p:extLst>
      <p:ext uri="{BB962C8B-B14F-4D97-AF65-F5344CB8AC3E}">
        <p14:creationId xmlns:p14="http://schemas.microsoft.com/office/powerpoint/2010/main" val="1183436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3 Domeinen kernboodsch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E8AFB8-B582-5FD7-4326-6D667DD4E0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842469" y="4946961"/>
            <a:ext cx="792000" cy="79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F1D004-596A-4687-6D31-ECA17DDF1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519389" y="4946961"/>
            <a:ext cx="792000" cy="79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FFF811-71F6-F006-731D-2BB6029BCF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196309" y="4946961"/>
            <a:ext cx="792000" cy="792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0B7128-104D-65A1-88A6-65A1F785C06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48563" y="4946960"/>
            <a:ext cx="792001" cy="7920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3A6BB34-AFC3-FCD8-BB93-E8C4B6F3D9D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872436" y="4947762"/>
            <a:ext cx="792001" cy="79200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A6CF40ED-B3DB-6A4C-8048-A7CEA8CC2670}"/>
              </a:ext>
            </a:extLst>
          </p:cNvPr>
          <p:cNvCxnSpPr/>
          <p:nvPr userDrawn="1"/>
        </p:nvCxnSpPr>
        <p:spPr>
          <a:xfrm>
            <a:off x="1550149" y="6126453"/>
            <a:ext cx="3936251" cy="0"/>
          </a:xfrm>
          <a:prstGeom prst="line">
            <a:avLst/>
          </a:prstGeom>
          <a:ln w="254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21">
            <a:extLst>
              <a:ext uri="{FF2B5EF4-FFF2-40B4-BE49-F238E27FC236}">
                <a16:creationId xmlns:a16="http://schemas.microsoft.com/office/drawing/2014/main" id="{4C346DEE-E7C9-284C-90A7-F27EDBB040B8}"/>
              </a:ext>
            </a:extLst>
          </p:cNvPr>
          <p:cNvCxnSpPr/>
          <p:nvPr userDrawn="1"/>
        </p:nvCxnSpPr>
        <p:spPr>
          <a:xfrm>
            <a:off x="5873229" y="6126453"/>
            <a:ext cx="3936251" cy="0"/>
          </a:xfrm>
          <a:prstGeom prst="line">
            <a:avLst/>
          </a:prstGeom>
          <a:ln w="254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hte verbindingslijn 22">
            <a:extLst>
              <a:ext uri="{FF2B5EF4-FFF2-40B4-BE49-F238E27FC236}">
                <a16:creationId xmlns:a16="http://schemas.microsoft.com/office/drawing/2014/main" id="{4EC85019-264A-8444-8C67-2D7810A7E99F}"/>
              </a:ext>
            </a:extLst>
          </p:cNvPr>
          <p:cNvCxnSpPr/>
          <p:nvPr userDrawn="1"/>
        </p:nvCxnSpPr>
        <p:spPr>
          <a:xfrm>
            <a:off x="10196309" y="6126453"/>
            <a:ext cx="3936251" cy="0"/>
          </a:xfrm>
          <a:prstGeom prst="line">
            <a:avLst/>
          </a:prstGeom>
          <a:ln w="254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78A0D59E-E748-FE46-B13F-34DA25396717}"/>
              </a:ext>
            </a:extLst>
          </p:cNvPr>
          <p:cNvCxnSpPr/>
          <p:nvPr userDrawn="1"/>
        </p:nvCxnSpPr>
        <p:spPr>
          <a:xfrm>
            <a:off x="14519389" y="6126453"/>
            <a:ext cx="3936251" cy="0"/>
          </a:xfrm>
          <a:prstGeom prst="line">
            <a:avLst/>
          </a:prstGeom>
          <a:ln w="254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B7349073-4E48-D449-AE04-A617E6D9EB2B}"/>
              </a:ext>
            </a:extLst>
          </p:cNvPr>
          <p:cNvCxnSpPr/>
          <p:nvPr userDrawn="1"/>
        </p:nvCxnSpPr>
        <p:spPr>
          <a:xfrm>
            <a:off x="18842469" y="6126453"/>
            <a:ext cx="3936251" cy="0"/>
          </a:xfrm>
          <a:prstGeom prst="line">
            <a:avLst/>
          </a:prstGeom>
          <a:ln w="254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kstvak 30">
            <a:extLst>
              <a:ext uri="{FF2B5EF4-FFF2-40B4-BE49-F238E27FC236}">
                <a16:creationId xmlns:a16="http://schemas.microsoft.com/office/drawing/2014/main" id="{E625C973-DA58-6448-86C5-198CE00AF485}"/>
              </a:ext>
            </a:extLst>
          </p:cNvPr>
          <p:cNvSpPr txBox="1"/>
          <p:nvPr userDrawn="1"/>
        </p:nvSpPr>
        <p:spPr>
          <a:xfrm>
            <a:off x="2499360" y="4948555"/>
            <a:ext cx="2987039" cy="7810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eaLnBrk="0" hangingPunct="0"/>
            <a:r>
              <a:rPr lang="nl-NL" sz="2000" b="1" dirty="0"/>
              <a:t>Toegang</a:t>
            </a:r>
          </a:p>
        </p:txBody>
      </p:sp>
      <p:sp>
        <p:nvSpPr>
          <p:cNvPr id="32" name="Tekstvak 31">
            <a:extLst>
              <a:ext uri="{FF2B5EF4-FFF2-40B4-BE49-F238E27FC236}">
                <a16:creationId xmlns:a16="http://schemas.microsoft.com/office/drawing/2014/main" id="{D0443213-599E-4A4C-A978-C1B0DFC142A7}"/>
              </a:ext>
            </a:extLst>
          </p:cNvPr>
          <p:cNvSpPr txBox="1"/>
          <p:nvPr userDrawn="1"/>
        </p:nvSpPr>
        <p:spPr>
          <a:xfrm>
            <a:off x="6822440" y="4948555"/>
            <a:ext cx="2987039" cy="7810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eaLnBrk="0" hangingPunct="0"/>
            <a:r>
              <a:rPr lang="nl-NL" sz="2000" b="1" dirty="0"/>
              <a:t>Interactie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86B368D2-BF7D-2B4D-88F2-D5F875261FDB}"/>
              </a:ext>
            </a:extLst>
          </p:cNvPr>
          <p:cNvSpPr txBox="1"/>
          <p:nvPr userDrawn="1"/>
        </p:nvSpPr>
        <p:spPr>
          <a:xfrm>
            <a:off x="11145520" y="4948555"/>
            <a:ext cx="2987039" cy="7810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eaLnBrk="0" hangingPunct="0"/>
            <a:r>
              <a:rPr lang="nl-NL" sz="2000" b="1" dirty="0" err="1"/>
              <a:t>Gegevens-uitwisseling</a:t>
            </a:r>
            <a:endParaRPr lang="nl-NL" sz="2000" b="1" dirty="0"/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E1044E12-6195-2344-ACC6-A05CAC66AC5D}"/>
              </a:ext>
            </a:extLst>
          </p:cNvPr>
          <p:cNvSpPr txBox="1"/>
          <p:nvPr userDrawn="1"/>
        </p:nvSpPr>
        <p:spPr>
          <a:xfrm>
            <a:off x="15468600" y="4948555"/>
            <a:ext cx="2987039" cy="7810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eaLnBrk="0" hangingPunct="0"/>
            <a:r>
              <a:rPr lang="nl-NL" sz="2000" b="1" dirty="0"/>
              <a:t>Infrastructuur</a:t>
            </a:r>
          </a:p>
        </p:txBody>
      </p:sp>
      <p:sp>
        <p:nvSpPr>
          <p:cNvPr id="35" name="Tekstvak 34">
            <a:extLst>
              <a:ext uri="{FF2B5EF4-FFF2-40B4-BE49-F238E27FC236}">
                <a16:creationId xmlns:a16="http://schemas.microsoft.com/office/drawing/2014/main" id="{BC8D71EC-A8C6-6E48-AB5B-A890647B96B3}"/>
              </a:ext>
            </a:extLst>
          </p:cNvPr>
          <p:cNvSpPr txBox="1"/>
          <p:nvPr userDrawn="1"/>
        </p:nvSpPr>
        <p:spPr>
          <a:xfrm>
            <a:off x="19791680" y="4948555"/>
            <a:ext cx="2987039" cy="78104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eaLnBrk="0" hangingPunct="0"/>
            <a:r>
              <a:rPr lang="nl-NL" sz="2000" b="1" dirty="0"/>
              <a:t>Regie op stelsels en standaarden</a:t>
            </a:r>
          </a:p>
        </p:txBody>
      </p:sp>
      <p:sp>
        <p:nvSpPr>
          <p:cNvPr id="36" name="Tekstvak 35">
            <a:extLst>
              <a:ext uri="{FF2B5EF4-FFF2-40B4-BE49-F238E27FC236}">
                <a16:creationId xmlns:a16="http://schemas.microsoft.com/office/drawing/2014/main" id="{0ECDDC91-C2D3-9644-8506-E16D8284622F}"/>
              </a:ext>
            </a:extLst>
          </p:cNvPr>
          <p:cNvSpPr txBox="1"/>
          <p:nvPr userDrawn="1"/>
        </p:nvSpPr>
        <p:spPr>
          <a:xfrm>
            <a:off x="1550148" y="6614938"/>
            <a:ext cx="3936251" cy="524890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 diensten en producten van Logius kan veilig en makkelijk toegang worden gegeven tot online </a:t>
            </a:r>
            <a:r>
              <a:rPr lang="nl-NL" sz="20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dienst-verlening</a:t>
            </a: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Niet alleen vanuit Nederland, maar ook </a:t>
            </a:r>
            <a:r>
              <a:rPr lang="nl-NL" sz="20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daar-buiten</a:t>
            </a: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Vaak gaat het om privacygevoelige gegevens. Logius biedt de zekerheid dat gegevens met de juiste persoon of het juiste bedrijf worden gedeeld. </a:t>
            </a:r>
          </a:p>
        </p:txBody>
      </p:sp>
      <p:sp>
        <p:nvSpPr>
          <p:cNvPr id="37" name="Tekstvak 36">
            <a:extLst>
              <a:ext uri="{FF2B5EF4-FFF2-40B4-BE49-F238E27FC236}">
                <a16:creationId xmlns:a16="http://schemas.microsoft.com/office/drawing/2014/main" id="{3CED80A6-C3ED-0A47-A8AF-2A7399AEE304}"/>
              </a:ext>
            </a:extLst>
          </p:cNvPr>
          <p:cNvSpPr txBox="1"/>
          <p:nvPr userDrawn="1"/>
        </p:nvSpPr>
        <p:spPr>
          <a:xfrm>
            <a:off x="5873228" y="6614938"/>
            <a:ext cx="3936251" cy="524890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Burgers en ondernemers 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kunt u op een veilige en toegankelijke manier attenderen op belangrijke zaken met een digitaal bericht.</a:t>
            </a:r>
          </a:p>
          <a:p>
            <a:pPr eaLnBrk="0" hangingPunct="0">
              <a:lnSpc>
                <a:spcPct val="100000"/>
              </a:lnSpc>
            </a:pPr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Ook kunt u iemand inzicht geven in zijn of haar geregistreerde gegevens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diegene de regie geven over deze </a:t>
            </a:r>
            <a:r>
              <a:rPr lang="nl-NL" sz="20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persoons-gegevens</a:t>
            </a: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waaronder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 delen met anderen.</a:t>
            </a: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EB9F4020-CA2C-954E-9D79-F80E79E0224A}"/>
              </a:ext>
            </a:extLst>
          </p:cNvPr>
          <p:cNvSpPr txBox="1"/>
          <p:nvPr userDrawn="1"/>
        </p:nvSpPr>
        <p:spPr>
          <a:xfrm>
            <a:off x="10196308" y="6614938"/>
            <a:ext cx="3936251" cy="524890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Uw gegevens kunt u veilig, betrouwbaar en </a:t>
            </a:r>
            <a:r>
              <a:rPr lang="nl-NL" sz="20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gestandaar-diseerd</a:t>
            </a: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uitwisselen tussen overheden, burgers en bedrijven.</a:t>
            </a:r>
          </a:p>
          <a:p>
            <a:pPr eaLnBrk="0" hangingPunct="0">
              <a:lnSpc>
                <a:spcPct val="100000"/>
              </a:lnSpc>
            </a:pPr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Logius maakt dit mogelijk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 ketenpartner voor de digitale overheid.</a:t>
            </a:r>
          </a:p>
          <a:p>
            <a:pPr eaLnBrk="0" hangingPunct="0">
              <a:lnSpc>
                <a:spcPct val="100000"/>
              </a:lnSpc>
            </a:pPr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Daarbij bieden we ook oplossingen om de gegevens in de basisregistraties op orde te houden en uit te wisselen.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F51030E1-C554-A447-A03B-EEE72351A79D}"/>
              </a:ext>
            </a:extLst>
          </p:cNvPr>
          <p:cNvSpPr txBox="1"/>
          <p:nvPr userDrawn="1"/>
        </p:nvSpPr>
        <p:spPr>
          <a:xfrm>
            <a:off x="14519388" y="6614938"/>
            <a:ext cx="3936251" cy="524890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Uw digitale diensten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kunt u snel en schaalbaar opbouwen met ons IT-fundament.</a:t>
            </a:r>
          </a:p>
          <a:p>
            <a:pPr eaLnBrk="0" hangingPunct="0">
              <a:lnSpc>
                <a:spcPct val="100000"/>
              </a:lnSpc>
            </a:pPr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u voldoet altijd aan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laatste veiligheidseisen, standaarden en regelgeving.</a:t>
            </a:r>
          </a:p>
          <a:p>
            <a:pPr eaLnBrk="0" hangingPunct="0">
              <a:lnSpc>
                <a:spcPct val="100000"/>
              </a:lnSpc>
            </a:pPr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Ook zorgt Logius voor betrouwbare verbindingen voor het transport van uw data naar burgers, bedrijven en overheden.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089CEB50-C09E-6443-A46E-C24D1B218734}"/>
              </a:ext>
            </a:extLst>
          </p:cNvPr>
          <p:cNvSpPr txBox="1"/>
          <p:nvPr userDrawn="1"/>
        </p:nvSpPr>
        <p:spPr>
          <a:xfrm>
            <a:off x="18842468" y="6614938"/>
            <a:ext cx="3994559" cy="524890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Uw digitale dienstverlening aan burgers en bedrijven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veilig, herkenbaar en makkelijk door het gebruik van uniforme standaarden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stelsels.</a:t>
            </a:r>
          </a:p>
          <a:p>
            <a:pPr eaLnBrk="0" hangingPunct="0">
              <a:lnSpc>
                <a:spcPct val="100000"/>
              </a:lnSpc>
            </a:pPr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Daarvoor maken we samen sector overstijgende afspraken.</a:t>
            </a:r>
          </a:p>
          <a:p>
            <a:pPr eaLnBrk="0" hangingPunct="0">
              <a:lnSpc>
                <a:spcPct val="100000"/>
              </a:lnSpc>
            </a:pPr>
            <a:endParaRPr lang="nl-NL" sz="20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Logius heeft de regie op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 maken, vastleggen</a:t>
            </a:r>
          </a:p>
          <a:p>
            <a:pPr eaLnBrk="0" hangingPunct="0">
              <a:lnSpc>
                <a:spcPct val="100000"/>
              </a:lnSpc>
            </a:pPr>
            <a:r>
              <a:rPr lang="nl-NL" sz="20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actualiseren van die afspraken en organiseert daarvoor publiek-private samenwerking.</a:t>
            </a:r>
          </a:p>
        </p:txBody>
      </p:sp>
      <p:cxnSp>
        <p:nvCxnSpPr>
          <p:cNvPr id="41" name="Straight Connector 8">
            <a:extLst>
              <a:ext uri="{FF2B5EF4-FFF2-40B4-BE49-F238E27FC236}">
                <a16:creationId xmlns:a16="http://schemas.microsoft.com/office/drawing/2014/main" id="{A2511EAB-52DE-7A45-BF7B-52D972E671CD}"/>
              </a:ext>
            </a:extLst>
          </p:cNvPr>
          <p:cNvCxnSpPr>
            <a:cxnSpLocks/>
          </p:cNvCxnSpPr>
          <p:nvPr userDrawn="1"/>
        </p:nvCxnSpPr>
        <p:spPr>
          <a:xfrm>
            <a:off x="1348756" y="4030435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kstvak 41">
            <a:extLst>
              <a:ext uri="{FF2B5EF4-FFF2-40B4-BE49-F238E27FC236}">
                <a16:creationId xmlns:a16="http://schemas.microsoft.com/office/drawing/2014/main" id="{4E27D129-A232-5344-8803-9E86ACD54AE1}"/>
              </a:ext>
            </a:extLst>
          </p:cNvPr>
          <p:cNvSpPr txBox="1"/>
          <p:nvPr userDrawn="1"/>
        </p:nvSpPr>
        <p:spPr>
          <a:xfrm>
            <a:off x="1348754" y="2848165"/>
            <a:ext cx="21689663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Samen zorgen we voor een </a:t>
            </a:r>
          </a:p>
          <a:p>
            <a:pPr algn="l"/>
            <a:r>
              <a:rPr lang="nl-NL" sz="4800" b="1" dirty="0">
                <a:solidFill>
                  <a:srgbClr val="39870C"/>
                </a:solidFill>
              </a:rPr>
              <a:t>digitale overheid die werkt voor iedereen.</a:t>
            </a:r>
          </a:p>
        </p:txBody>
      </p:sp>
    </p:spTree>
    <p:extLst>
      <p:ext uri="{BB962C8B-B14F-4D97-AF65-F5344CB8AC3E}">
        <p14:creationId xmlns:p14="http://schemas.microsoft.com/office/powerpoint/2010/main" val="9137459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4 Centrale boodschap + dome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A45183C3-A470-5249-9062-F3AB735C6B7E}"/>
              </a:ext>
            </a:extLst>
          </p:cNvPr>
          <p:cNvGrpSpPr/>
          <p:nvPr userDrawn="1"/>
        </p:nvGrpSpPr>
        <p:grpSpPr>
          <a:xfrm>
            <a:off x="1506537" y="4760411"/>
            <a:ext cx="21531880" cy="5081964"/>
            <a:chOff x="1506537" y="5516650"/>
            <a:chExt cx="21531880" cy="5081964"/>
          </a:xfrm>
        </p:grpSpPr>
        <p:sp>
          <p:nvSpPr>
            <p:cNvPr id="12" name="Tekstvak 11">
              <a:extLst>
                <a:ext uri="{FF2B5EF4-FFF2-40B4-BE49-F238E27FC236}">
                  <a16:creationId xmlns:a16="http://schemas.microsoft.com/office/drawing/2014/main" id="{E9CA1229-1726-EC45-B30C-3F785FEF7BC4}"/>
                </a:ext>
              </a:extLst>
            </p:cNvPr>
            <p:cNvSpPr txBox="1"/>
            <p:nvPr userDrawn="1"/>
          </p:nvSpPr>
          <p:spPr>
            <a:xfrm>
              <a:off x="1506537" y="8779950"/>
              <a:ext cx="2827719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Toegang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kstvak 13">
              <a:extLst>
                <a:ext uri="{FF2B5EF4-FFF2-40B4-BE49-F238E27FC236}">
                  <a16:creationId xmlns:a16="http://schemas.microsoft.com/office/drawing/2014/main" id="{9B4D0847-5D26-FE4E-981B-6A8F12F9C49A}"/>
                </a:ext>
              </a:extLst>
            </p:cNvPr>
            <p:cNvSpPr txBox="1"/>
            <p:nvPr userDrawn="1"/>
          </p:nvSpPr>
          <p:spPr>
            <a:xfrm>
              <a:off x="19609543" y="8790387"/>
              <a:ext cx="3428874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Regie op stelsels en standaarden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6119D2B6-C751-2249-A144-BCE48F96AA83}"/>
                </a:ext>
              </a:extLst>
            </p:cNvPr>
            <p:cNvSpPr txBox="1"/>
            <p:nvPr userDrawn="1"/>
          </p:nvSpPr>
          <p:spPr>
            <a:xfrm>
              <a:off x="15046871" y="8779950"/>
              <a:ext cx="3566622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Infrastructuur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kstvak 15">
              <a:extLst>
                <a:ext uri="{FF2B5EF4-FFF2-40B4-BE49-F238E27FC236}">
                  <a16:creationId xmlns:a16="http://schemas.microsoft.com/office/drawing/2014/main" id="{A7CB083D-98FB-FC4B-ACBB-88B3D899262B}"/>
                </a:ext>
              </a:extLst>
            </p:cNvPr>
            <p:cNvSpPr txBox="1"/>
            <p:nvPr userDrawn="1"/>
          </p:nvSpPr>
          <p:spPr>
            <a:xfrm>
              <a:off x="10505992" y="8788677"/>
              <a:ext cx="3375185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 err="1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Gegevens-uitwisseling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27658245-9BAD-3543-B0A1-4452188CA6A2}"/>
                </a:ext>
              </a:extLst>
            </p:cNvPr>
            <p:cNvSpPr txBox="1"/>
            <p:nvPr userDrawn="1"/>
          </p:nvSpPr>
          <p:spPr>
            <a:xfrm>
              <a:off x="6143132" y="8779950"/>
              <a:ext cx="2827719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Interactie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9" name="Afbeelding 18">
              <a:extLst>
                <a:ext uri="{FF2B5EF4-FFF2-40B4-BE49-F238E27FC236}">
                  <a16:creationId xmlns:a16="http://schemas.microsoft.com/office/drawing/2014/main" id="{12A9600F-7BDF-954C-84F2-C0D37ADC51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506537" y="5516650"/>
              <a:ext cx="21374100" cy="2806700"/>
            </a:xfrm>
            <a:prstGeom prst="rect">
              <a:avLst/>
            </a:prstGeom>
          </p:spPr>
        </p:pic>
      </p:grpSp>
      <p:cxnSp>
        <p:nvCxnSpPr>
          <p:cNvPr id="24" name="Straight Connector 8">
            <a:extLst>
              <a:ext uri="{FF2B5EF4-FFF2-40B4-BE49-F238E27FC236}">
                <a16:creationId xmlns:a16="http://schemas.microsoft.com/office/drawing/2014/main" id="{A86A9338-608F-5246-A82E-34EA0E531728}"/>
              </a:ext>
            </a:extLst>
          </p:cNvPr>
          <p:cNvCxnSpPr>
            <a:cxnSpLocks/>
          </p:cNvCxnSpPr>
          <p:nvPr userDrawn="1"/>
        </p:nvCxnSpPr>
        <p:spPr>
          <a:xfrm>
            <a:off x="1348756" y="4030435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kstvak 24">
            <a:extLst>
              <a:ext uri="{FF2B5EF4-FFF2-40B4-BE49-F238E27FC236}">
                <a16:creationId xmlns:a16="http://schemas.microsoft.com/office/drawing/2014/main" id="{94B8A03A-FF4E-A646-AD0D-030EA500E577}"/>
              </a:ext>
            </a:extLst>
          </p:cNvPr>
          <p:cNvSpPr txBox="1"/>
          <p:nvPr userDrawn="1"/>
        </p:nvSpPr>
        <p:spPr>
          <a:xfrm>
            <a:off x="1348754" y="2848165"/>
            <a:ext cx="21689663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Samen zorgen we voor een </a:t>
            </a:r>
          </a:p>
          <a:p>
            <a:pPr algn="l"/>
            <a:r>
              <a:rPr lang="nl-NL" sz="4800" b="1" dirty="0">
                <a:solidFill>
                  <a:srgbClr val="39870C"/>
                </a:solidFill>
              </a:rPr>
              <a:t>digitale overheid die werkt voor iedereen.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323D46-EDB5-8EB4-FD6B-CC3CF01E6D2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073938" y="4760411"/>
            <a:ext cx="2806699" cy="28066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63217B-402D-63A8-A352-6DCF88FA41A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454290" y="4771269"/>
            <a:ext cx="2806700" cy="2806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91B6BB-83BC-6DAA-CEE2-10737199CF6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11813" y="4739393"/>
            <a:ext cx="2827717" cy="28277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5470C77-6441-BDC8-B696-F709981359B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506537" y="4760411"/>
            <a:ext cx="2827718" cy="2827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18BC40-1251-D6B2-A644-F8D290D4A32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159175" y="4760411"/>
            <a:ext cx="2827718" cy="282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822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5 Missie Logi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vak 17">
            <a:extLst>
              <a:ext uri="{FF2B5EF4-FFF2-40B4-BE49-F238E27FC236}">
                <a16:creationId xmlns:a16="http://schemas.microsoft.com/office/drawing/2014/main" id="{4FE154AE-9169-B644-B559-601C2BB32DFF}"/>
              </a:ext>
            </a:extLst>
          </p:cNvPr>
          <p:cNvSpPr txBox="1"/>
          <p:nvPr userDrawn="1"/>
        </p:nvSpPr>
        <p:spPr>
          <a:xfrm>
            <a:off x="1348754" y="2113380"/>
            <a:ext cx="21689663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Missie van Logius</a:t>
            </a:r>
          </a:p>
        </p:txBody>
      </p:sp>
      <p:sp>
        <p:nvSpPr>
          <p:cNvPr id="21" name="Afgeronde rechthoek 20">
            <a:extLst>
              <a:ext uri="{FF2B5EF4-FFF2-40B4-BE49-F238E27FC236}">
                <a16:creationId xmlns:a16="http://schemas.microsoft.com/office/drawing/2014/main" id="{3CF99B95-9F48-3148-AC26-EFE5C107E7BB}"/>
              </a:ext>
            </a:extLst>
          </p:cNvPr>
          <p:cNvSpPr/>
          <p:nvPr userDrawn="1"/>
        </p:nvSpPr>
        <p:spPr>
          <a:xfrm>
            <a:off x="1348754" y="3707655"/>
            <a:ext cx="21689663" cy="1967044"/>
          </a:xfrm>
          <a:prstGeom prst="roundRect">
            <a:avLst/>
          </a:prstGeom>
          <a:solidFill>
            <a:srgbClr val="EBF4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Logius gelooft in een overheid die altijd, overal en voor iedereen beschikbaar en toegankelijk is. Daarom bieden we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Publieke organisaties producten en diensten waarmee we er samen voor zorgen dat burgers en bedrijven digitaal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24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zaken kunnen regelen met de overheid. Dat doen we vakkundig, betrouwbaar en in eenvoud. </a:t>
            </a:r>
          </a:p>
        </p:txBody>
      </p:sp>
      <p:grpSp>
        <p:nvGrpSpPr>
          <p:cNvPr id="22" name="Groep 21">
            <a:extLst>
              <a:ext uri="{FF2B5EF4-FFF2-40B4-BE49-F238E27FC236}">
                <a16:creationId xmlns:a16="http://schemas.microsoft.com/office/drawing/2014/main" id="{85FC5992-31CA-D841-A26F-65A4F60D56CE}"/>
              </a:ext>
            </a:extLst>
          </p:cNvPr>
          <p:cNvGrpSpPr/>
          <p:nvPr userDrawn="1"/>
        </p:nvGrpSpPr>
        <p:grpSpPr>
          <a:xfrm>
            <a:off x="1506537" y="6366056"/>
            <a:ext cx="21531880" cy="5081964"/>
            <a:chOff x="1506537" y="5516650"/>
            <a:chExt cx="21531880" cy="5081964"/>
          </a:xfrm>
        </p:grpSpPr>
        <p:sp>
          <p:nvSpPr>
            <p:cNvPr id="23" name="Tekstvak 22">
              <a:extLst>
                <a:ext uri="{FF2B5EF4-FFF2-40B4-BE49-F238E27FC236}">
                  <a16:creationId xmlns:a16="http://schemas.microsoft.com/office/drawing/2014/main" id="{CB12E3FA-BEB7-AF40-A3D9-964AE9A46783}"/>
                </a:ext>
              </a:extLst>
            </p:cNvPr>
            <p:cNvSpPr txBox="1"/>
            <p:nvPr userDrawn="1"/>
          </p:nvSpPr>
          <p:spPr>
            <a:xfrm>
              <a:off x="1506537" y="8779950"/>
              <a:ext cx="2827719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Toegang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kstvak 23">
              <a:extLst>
                <a:ext uri="{FF2B5EF4-FFF2-40B4-BE49-F238E27FC236}">
                  <a16:creationId xmlns:a16="http://schemas.microsoft.com/office/drawing/2014/main" id="{CB07EF12-E302-284F-9F61-01A992055B17}"/>
                </a:ext>
              </a:extLst>
            </p:cNvPr>
            <p:cNvSpPr txBox="1"/>
            <p:nvPr userDrawn="1"/>
          </p:nvSpPr>
          <p:spPr>
            <a:xfrm>
              <a:off x="19609543" y="8790387"/>
              <a:ext cx="3428874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Regie op stelsels en standaarden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kstvak 24">
              <a:extLst>
                <a:ext uri="{FF2B5EF4-FFF2-40B4-BE49-F238E27FC236}">
                  <a16:creationId xmlns:a16="http://schemas.microsoft.com/office/drawing/2014/main" id="{583A5319-07F3-A34E-B751-D51D64287EB7}"/>
                </a:ext>
              </a:extLst>
            </p:cNvPr>
            <p:cNvSpPr txBox="1"/>
            <p:nvPr userDrawn="1"/>
          </p:nvSpPr>
          <p:spPr>
            <a:xfrm>
              <a:off x="15046871" y="8779950"/>
              <a:ext cx="3566622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Infrastructuur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kstvak 25">
              <a:extLst>
                <a:ext uri="{FF2B5EF4-FFF2-40B4-BE49-F238E27FC236}">
                  <a16:creationId xmlns:a16="http://schemas.microsoft.com/office/drawing/2014/main" id="{DB2C64B5-7948-EE40-9CFF-58B69917D164}"/>
                </a:ext>
              </a:extLst>
            </p:cNvPr>
            <p:cNvSpPr txBox="1"/>
            <p:nvPr userDrawn="1"/>
          </p:nvSpPr>
          <p:spPr>
            <a:xfrm>
              <a:off x="10505992" y="8788677"/>
              <a:ext cx="3375185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 err="1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Gegevens-uitwisseling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kstvak 26">
              <a:extLst>
                <a:ext uri="{FF2B5EF4-FFF2-40B4-BE49-F238E27FC236}">
                  <a16:creationId xmlns:a16="http://schemas.microsoft.com/office/drawing/2014/main" id="{4DA06A8A-5E14-974C-8069-09E564FEB206}"/>
                </a:ext>
              </a:extLst>
            </p:cNvPr>
            <p:cNvSpPr txBox="1"/>
            <p:nvPr userDrawn="1"/>
          </p:nvSpPr>
          <p:spPr>
            <a:xfrm>
              <a:off x="6143132" y="8779950"/>
              <a:ext cx="2827719" cy="180822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nl-NL" sz="2800" b="1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rPr>
                <a:t>Interactie</a:t>
              </a:r>
              <a:endParaRPr lang="nl-NL" sz="28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8" name="Afbeelding 27">
              <a:extLst>
                <a:ext uri="{FF2B5EF4-FFF2-40B4-BE49-F238E27FC236}">
                  <a16:creationId xmlns:a16="http://schemas.microsoft.com/office/drawing/2014/main" id="{ED408CFB-9942-C14F-B152-CECF291EA3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506537" y="5516650"/>
              <a:ext cx="21374100" cy="28067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25EAD038-A4A3-7BCE-F7A2-FC4AA6A923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0073938" y="6366056"/>
            <a:ext cx="2806699" cy="28066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1E1A3A-415B-D201-DAD0-5150C0EECF0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5454290" y="6376914"/>
            <a:ext cx="2806700" cy="28067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8572DF-450C-57DF-23F2-CB4CCB11E2F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811813" y="6345038"/>
            <a:ext cx="2827717" cy="28277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6E4EF34-C545-727C-72DD-3B05BB4CA76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506537" y="6366056"/>
            <a:ext cx="2827718" cy="28277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0B02EF0-95FB-83DE-18D1-DDFFE35D76D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159175" y="6366056"/>
            <a:ext cx="2827718" cy="282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7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6 Missie Logius en kernwaar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Afbeelding 53" descr="Afbeelding met tekst&#10;&#10;Automatisch gegenereerde beschrijving">
            <a:extLst>
              <a:ext uri="{FF2B5EF4-FFF2-40B4-BE49-F238E27FC236}">
                <a16:creationId xmlns:a16="http://schemas.microsoft.com/office/drawing/2014/main" id="{69927C9B-06B7-BB40-A5DE-06942AE47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929600" cy="12954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46" name="Straight Connector 11">
            <a:extLst>
              <a:ext uri="{FF2B5EF4-FFF2-40B4-BE49-F238E27FC236}">
                <a16:creationId xmlns:a16="http://schemas.microsoft.com/office/drawing/2014/main" id="{8B883E43-0EEB-A74B-9E92-E5164F2EF47E}"/>
              </a:ext>
            </a:extLst>
          </p:cNvPr>
          <p:cNvCxnSpPr>
            <a:cxnSpLocks/>
          </p:cNvCxnSpPr>
          <p:nvPr userDrawn="1"/>
        </p:nvCxnSpPr>
        <p:spPr>
          <a:xfrm>
            <a:off x="1351270" y="4034498"/>
            <a:ext cx="9189730" cy="0"/>
          </a:xfrm>
          <a:prstGeom prst="line">
            <a:avLst/>
          </a:prstGeom>
          <a:ln w="38100">
            <a:solidFill>
              <a:srgbClr val="398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kstvak 46">
            <a:extLst>
              <a:ext uri="{FF2B5EF4-FFF2-40B4-BE49-F238E27FC236}">
                <a16:creationId xmlns:a16="http://schemas.microsoft.com/office/drawing/2014/main" id="{AC1089E8-7FEB-C944-A0B8-A8F578372B39}"/>
              </a:ext>
            </a:extLst>
          </p:cNvPr>
          <p:cNvSpPr txBox="1"/>
          <p:nvPr userDrawn="1"/>
        </p:nvSpPr>
        <p:spPr>
          <a:xfrm>
            <a:off x="1361758" y="2851164"/>
            <a:ext cx="9179242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Missie Logius</a:t>
            </a:r>
          </a:p>
        </p:txBody>
      </p:sp>
      <p:sp>
        <p:nvSpPr>
          <p:cNvPr id="48" name="Tekstvak 47">
            <a:extLst>
              <a:ext uri="{FF2B5EF4-FFF2-40B4-BE49-F238E27FC236}">
                <a16:creationId xmlns:a16="http://schemas.microsoft.com/office/drawing/2014/main" id="{C5D8E953-FDC7-9C47-A682-7BB2D7AF7A86}"/>
              </a:ext>
            </a:extLst>
          </p:cNvPr>
          <p:cNvSpPr txBox="1"/>
          <p:nvPr userDrawn="1"/>
        </p:nvSpPr>
        <p:spPr>
          <a:xfrm>
            <a:off x="1348756" y="4464849"/>
            <a:ext cx="9192244" cy="59124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Logius gelooft in een overheid die altijd, overal en voor iedereen beschikbaar en toegankelijk is.</a:t>
            </a:r>
          </a:p>
          <a:p>
            <a:pPr algn="l"/>
            <a:endParaRPr lang="nl-NL" sz="3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Daarom bieden we publieke organisaties producten en diensten waarmee we er samen voor zorgen dat burgers en bedrijven digitaal zaken kunnen regelen met de overheid. </a:t>
            </a:r>
          </a:p>
          <a:p>
            <a:pPr algn="l"/>
            <a:endParaRPr lang="nl-NL" sz="3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 doen we betrouwbaar, vakkundig </a:t>
            </a:r>
          </a:p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in eenvoud.</a:t>
            </a:r>
            <a:endParaRPr lang="nl-NL" sz="3200" dirty="0"/>
          </a:p>
        </p:txBody>
      </p:sp>
      <p:sp>
        <p:nvSpPr>
          <p:cNvPr id="49" name="Tekstvak 48">
            <a:extLst>
              <a:ext uri="{FF2B5EF4-FFF2-40B4-BE49-F238E27FC236}">
                <a16:creationId xmlns:a16="http://schemas.microsoft.com/office/drawing/2014/main" id="{A1A3BD5F-40EB-1F42-9BE9-EEA10317D70A}"/>
              </a:ext>
            </a:extLst>
          </p:cNvPr>
          <p:cNvSpPr txBox="1"/>
          <p:nvPr userDrawn="1"/>
        </p:nvSpPr>
        <p:spPr>
          <a:xfrm>
            <a:off x="14385649" y="5202110"/>
            <a:ext cx="5561013" cy="127136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3200" b="1" kern="1200" dirty="0">
                <a:solidFill>
                  <a:srgbClr val="39870C"/>
                </a:solidFill>
                <a:effectLst/>
                <a:latin typeface="+mn-lt"/>
                <a:ea typeface="+mn-ea"/>
                <a:cs typeface="+mn-cs"/>
              </a:rPr>
              <a:t>In eenvoud</a:t>
            </a:r>
            <a:endParaRPr lang="nl-NL" sz="3200" kern="1200" dirty="0">
              <a:solidFill>
                <a:srgbClr val="39870C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0" name="Tekstvak 49">
            <a:extLst>
              <a:ext uri="{FF2B5EF4-FFF2-40B4-BE49-F238E27FC236}">
                <a16:creationId xmlns:a16="http://schemas.microsoft.com/office/drawing/2014/main" id="{A5BC0D37-1CD2-F04E-B9A6-D9E0C58DF419}"/>
              </a:ext>
            </a:extLst>
          </p:cNvPr>
          <p:cNvSpPr txBox="1"/>
          <p:nvPr userDrawn="1"/>
        </p:nvSpPr>
        <p:spPr>
          <a:xfrm>
            <a:off x="14385649" y="7217121"/>
            <a:ext cx="5561013" cy="127136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3200" b="1" kern="1200" dirty="0">
                <a:solidFill>
                  <a:srgbClr val="39870C"/>
                </a:solidFill>
                <a:effectLst/>
                <a:latin typeface="+mn-lt"/>
                <a:ea typeface="+mn-ea"/>
                <a:cs typeface="+mn-cs"/>
              </a:rPr>
              <a:t>Betrouwbaar</a:t>
            </a:r>
            <a:endParaRPr lang="nl-NL" sz="3200" kern="1200" dirty="0">
              <a:solidFill>
                <a:srgbClr val="39870C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51" name="Tekstvak 50">
            <a:extLst>
              <a:ext uri="{FF2B5EF4-FFF2-40B4-BE49-F238E27FC236}">
                <a16:creationId xmlns:a16="http://schemas.microsoft.com/office/drawing/2014/main" id="{C921AE7F-471D-024C-814F-1376CCC74010}"/>
              </a:ext>
            </a:extLst>
          </p:cNvPr>
          <p:cNvSpPr txBox="1"/>
          <p:nvPr userDrawn="1"/>
        </p:nvSpPr>
        <p:spPr>
          <a:xfrm>
            <a:off x="14385648" y="9212569"/>
            <a:ext cx="5561013" cy="1271369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3200" b="1" kern="1200" dirty="0">
                <a:solidFill>
                  <a:srgbClr val="39870C"/>
                </a:solidFill>
                <a:effectLst/>
                <a:latin typeface="+mn-lt"/>
                <a:ea typeface="+mn-ea"/>
                <a:cs typeface="+mn-cs"/>
              </a:rPr>
              <a:t>Vakkundig</a:t>
            </a:r>
            <a:endParaRPr lang="nl-NL" sz="3200" kern="1200" dirty="0">
              <a:solidFill>
                <a:srgbClr val="39870C"/>
              </a:solidFill>
              <a:effectLst/>
              <a:latin typeface="+mn-lt"/>
              <a:ea typeface="+mn-ea"/>
              <a:cs typeface="+mn-cs"/>
            </a:endParaRPr>
          </a:p>
        </p:txBody>
      </p:sp>
      <p:pic>
        <p:nvPicPr>
          <p:cNvPr id="52" name="Afbeelding 51">
            <a:extLst>
              <a:ext uri="{FF2B5EF4-FFF2-40B4-BE49-F238E27FC236}">
                <a16:creationId xmlns:a16="http://schemas.microsoft.com/office/drawing/2014/main" id="{D4E32D6A-0759-CF45-902E-74D38F33882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4486" y="4619078"/>
            <a:ext cx="4846823" cy="760467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2EDB043-FCEF-6824-BEBD-F60561A196A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659591" y="5154385"/>
            <a:ext cx="1323643" cy="132364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6B9F76-6D8F-C32F-0975-1B3A3C0E789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2677787" y="7183043"/>
            <a:ext cx="1305447" cy="1305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D3E277-0C5C-C3F8-F08F-DCB251CD4A5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2677787" y="9195530"/>
            <a:ext cx="1305446" cy="130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2378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7 (Missie) Algemeen Tussenblad met 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>
            <a:extLst>
              <a:ext uri="{FF2B5EF4-FFF2-40B4-BE49-F238E27FC236}">
                <a16:creationId xmlns:a16="http://schemas.microsoft.com/office/drawing/2014/main" id="{93B22A8E-625A-4CDE-93A6-D2D7A82C9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CCA25A83-7E2E-7E4C-8965-15491CA0FB20}"/>
              </a:ext>
            </a:extLst>
          </p:cNvPr>
          <p:cNvSpPr/>
          <p:nvPr userDrawn="1"/>
        </p:nvSpPr>
        <p:spPr>
          <a:xfrm>
            <a:off x="11718387" y="11264400"/>
            <a:ext cx="950400" cy="24516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40778D8B-1CAB-2D48-83D0-E823B7F9BB60}"/>
              </a:ext>
            </a:extLst>
          </p:cNvPr>
          <p:cNvSpPr/>
          <p:nvPr userDrawn="1"/>
        </p:nvSpPr>
        <p:spPr>
          <a:xfrm>
            <a:off x="11718387" y="10803599"/>
            <a:ext cx="950400" cy="950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Tekstvak 42">
            <a:extLst>
              <a:ext uri="{FF2B5EF4-FFF2-40B4-BE49-F238E27FC236}">
                <a16:creationId xmlns:a16="http://schemas.microsoft.com/office/drawing/2014/main" id="{8A9285C1-F543-4146-A709-25BCAD8A48CC}"/>
              </a:ext>
            </a:extLst>
          </p:cNvPr>
          <p:cNvSpPr txBox="1"/>
          <p:nvPr userDrawn="1"/>
        </p:nvSpPr>
        <p:spPr>
          <a:xfrm>
            <a:off x="5231053" y="4035285"/>
            <a:ext cx="13925068" cy="39954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nl-NL" sz="3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Logius gelooft in een overheid</a:t>
            </a:r>
          </a:p>
          <a:p>
            <a:pPr algn="ctr"/>
            <a:r>
              <a:rPr lang="nl-NL" sz="3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die altijd, overal en voor iedereen beschikbaar en toegankelijk is.</a:t>
            </a:r>
          </a:p>
          <a:p>
            <a:pPr algn="ctr"/>
            <a:endParaRPr lang="nl-NL" sz="3200" b="0" i="0" u="none" strike="noStrike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algn="ctr"/>
            <a:r>
              <a:rPr lang="nl-NL" sz="3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Daarom bieden we publieke organisaties producten en diensten waarmee we er samen voor zorgen dat burgers en bedrijven digitaal zaken kunnen regelen met de overheid. </a:t>
            </a:r>
          </a:p>
          <a:p>
            <a:pPr algn="ctr"/>
            <a:endParaRPr lang="nl-NL" sz="3200" b="0" i="0" u="none" strike="noStrike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pPr algn="ctr"/>
            <a:r>
              <a:rPr lang="nl-NL" sz="3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Dat doen we betrouwbaar, vakkundig en in eenvoud.</a:t>
            </a:r>
            <a:endParaRPr lang="nl-NL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4448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8 Missie Logius met illustr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kstvak 17">
            <a:extLst>
              <a:ext uri="{FF2B5EF4-FFF2-40B4-BE49-F238E27FC236}">
                <a16:creationId xmlns:a16="http://schemas.microsoft.com/office/drawing/2014/main" id="{4FE154AE-9169-B644-B559-601C2BB32DFF}"/>
              </a:ext>
            </a:extLst>
          </p:cNvPr>
          <p:cNvSpPr txBox="1"/>
          <p:nvPr userDrawn="1"/>
        </p:nvSpPr>
        <p:spPr>
          <a:xfrm>
            <a:off x="1348754" y="2113380"/>
            <a:ext cx="21689663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De missie van Logius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54F08398-8449-0441-B57F-11DCB6022664}"/>
              </a:ext>
            </a:extLst>
          </p:cNvPr>
          <p:cNvSpPr txBox="1"/>
          <p:nvPr userDrawn="1"/>
        </p:nvSpPr>
        <p:spPr>
          <a:xfrm>
            <a:off x="1348756" y="3726000"/>
            <a:ext cx="7667228" cy="770389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Logius gelooft in een overheid</a:t>
            </a:r>
          </a:p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 altijd, overal en voor iedereen beschikbaar en toegankelijk is.</a:t>
            </a:r>
          </a:p>
          <a:p>
            <a:pPr algn="l"/>
            <a:endParaRPr lang="nl-NL" sz="3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Daarom bieden we publieke organisaties producten en diensten waarmee we er samen voor zorgen dat burgers en bedrijven digitaal zaken kunnen regelen met de overheid. </a:t>
            </a:r>
          </a:p>
          <a:p>
            <a:pPr algn="l"/>
            <a:endParaRPr lang="nl-NL" sz="3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nl-NL" sz="3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 doen we betrouwbaar, vakkundig en in eenvoud.</a:t>
            </a:r>
            <a:endParaRPr lang="nl-NL" sz="3200" dirty="0">
              <a:solidFill>
                <a:schemeClr val="tx1"/>
              </a:solidFill>
            </a:endParaRPr>
          </a:p>
        </p:txBody>
      </p:sp>
      <p:pic>
        <p:nvPicPr>
          <p:cNvPr id="3" name="Afbeelding 2" descr="Afbeelding met tekst&#10;&#10;Automatisch gegenereerde beschrijving">
            <a:extLst>
              <a:ext uri="{FF2B5EF4-FFF2-40B4-BE49-F238E27FC236}">
                <a16:creationId xmlns:a16="http://schemas.microsoft.com/office/drawing/2014/main" id="{6D29154E-0585-2947-AF34-73A73B19A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1" y="4014746"/>
            <a:ext cx="13954862" cy="75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4141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9 (Centrale Boodschap) - Algemeen Tussenblad met tek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">
            <a:extLst>
              <a:ext uri="{FF2B5EF4-FFF2-40B4-BE49-F238E27FC236}">
                <a16:creationId xmlns:a16="http://schemas.microsoft.com/office/drawing/2014/main" id="{93B22A8E-625A-4CDE-93A6-D2D7A82C9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9" name="Rectangle 7">
            <a:extLst>
              <a:ext uri="{FF2B5EF4-FFF2-40B4-BE49-F238E27FC236}">
                <a16:creationId xmlns:a16="http://schemas.microsoft.com/office/drawing/2014/main" id="{CCA25A83-7E2E-7E4C-8965-15491CA0FB20}"/>
              </a:ext>
            </a:extLst>
          </p:cNvPr>
          <p:cNvSpPr/>
          <p:nvPr userDrawn="1"/>
        </p:nvSpPr>
        <p:spPr>
          <a:xfrm>
            <a:off x="11718387" y="11264400"/>
            <a:ext cx="950400" cy="24516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40778D8B-1CAB-2D48-83D0-E823B7F9BB60}"/>
              </a:ext>
            </a:extLst>
          </p:cNvPr>
          <p:cNvSpPr/>
          <p:nvPr userDrawn="1"/>
        </p:nvSpPr>
        <p:spPr>
          <a:xfrm>
            <a:off x="11718387" y="10803599"/>
            <a:ext cx="950400" cy="9504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ekstvak 42">
            <a:extLst>
              <a:ext uri="{FF2B5EF4-FFF2-40B4-BE49-F238E27FC236}">
                <a16:creationId xmlns:a16="http://schemas.microsoft.com/office/drawing/2014/main" id="{91E5C927-1049-A140-86D5-817192C12723}"/>
              </a:ext>
            </a:extLst>
          </p:cNvPr>
          <p:cNvSpPr txBox="1"/>
          <p:nvPr userDrawn="1"/>
        </p:nvSpPr>
        <p:spPr>
          <a:xfrm>
            <a:off x="5231053" y="4035285"/>
            <a:ext cx="13925068" cy="399542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nl-NL" sz="3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Samen zorgen we voor een digitale overheid </a:t>
            </a:r>
          </a:p>
          <a:p>
            <a:pPr algn="ctr"/>
            <a:r>
              <a:rPr lang="nl-NL" sz="3200" b="0" i="0" u="none" strike="noStrike" kern="1200" dirty="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die werkt voor iedereen. </a:t>
            </a:r>
            <a:endParaRPr lang="nl-NL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15027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0 - Algemeen; dienstverlening Logi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69A9-79A0-9D4C-B941-33558DACC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defTabSz="914217"/>
            <a:r>
              <a:rPr lang="nl-NL" sz="4800" dirty="0">
                <a:solidFill>
                  <a:srgbClr val="39870C"/>
                </a:solidFill>
                <a:latin typeface="+mj-lt"/>
              </a:rPr>
              <a:t>Dienstverlening Logius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F1E9B-E546-2A45-949C-AEF405F6A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26 augustus 2021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5A39-1C91-264F-9A4D-229FF28BF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877A7C48-EF94-ED47-BF38-92D5503A17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90A157-2562-804C-9EC5-996CD09399B5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7EBDE1F-B74B-B741-91FF-63150E78962D}"/>
              </a:ext>
            </a:extLst>
          </p:cNvPr>
          <p:cNvSpPr/>
          <p:nvPr userDrawn="1"/>
        </p:nvSpPr>
        <p:spPr>
          <a:xfrm>
            <a:off x="4692132" y="4338067"/>
            <a:ext cx="3180522" cy="7926820"/>
          </a:xfrm>
          <a:prstGeom prst="roundRect">
            <a:avLst/>
          </a:prstGeom>
          <a:solidFill>
            <a:srgbClr val="E17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2" name="Tekstvak 42">
            <a:extLst>
              <a:ext uri="{FF2B5EF4-FFF2-40B4-BE49-F238E27FC236}">
                <a16:creationId xmlns:a16="http://schemas.microsoft.com/office/drawing/2014/main" id="{0997CBD2-35B4-AA45-BB1F-F1D6A19EBDF1}"/>
              </a:ext>
            </a:extLst>
          </p:cNvPr>
          <p:cNvSpPr txBox="1"/>
          <p:nvPr userDrawn="1"/>
        </p:nvSpPr>
        <p:spPr>
          <a:xfrm>
            <a:off x="4319802" y="5112791"/>
            <a:ext cx="3939882" cy="87227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nl-NL" sz="20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Toegang</a:t>
            </a:r>
            <a:endParaRPr lang="nl-NL" sz="2000" b="1" dirty="0">
              <a:solidFill>
                <a:schemeClr val="tx1"/>
              </a:solidFill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DD1CE02-39B1-5547-B177-3E4EC464373E}"/>
              </a:ext>
            </a:extLst>
          </p:cNvPr>
          <p:cNvSpPr/>
          <p:nvPr userDrawn="1"/>
        </p:nvSpPr>
        <p:spPr>
          <a:xfrm>
            <a:off x="8190706" y="4338067"/>
            <a:ext cx="3180522" cy="7926820"/>
          </a:xfrm>
          <a:prstGeom prst="roundRect">
            <a:avLst/>
          </a:prstGeom>
          <a:solidFill>
            <a:srgbClr val="8FCAE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3" name="Tekstvak 42">
            <a:extLst>
              <a:ext uri="{FF2B5EF4-FFF2-40B4-BE49-F238E27FC236}">
                <a16:creationId xmlns:a16="http://schemas.microsoft.com/office/drawing/2014/main" id="{E76D7B3E-2325-8C4D-BE37-9B811335BE87}"/>
              </a:ext>
            </a:extLst>
          </p:cNvPr>
          <p:cNvSpPr txBox="1"/>
          <p:nvPr userDrawn="1"/>
        </p:nvSpPr>
        <p:spPr>
          <a:xfrm>
            <a:off x="7699106" y="5112791"/>
            <a:ext cx="3939882" cy="87227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nl-NL" sz="2000" b="1" dirty="0">
                <a:solidFill>
                  <a:schemeClr val="tx1"/>
                </a:solidFill>
              </a:rPr>
              <a:t>Interactie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F746EC9-3F0C-5541-B59C-E6F87F06C660}"/>
              </a:ext>
            </a:extLst>
          </p:cNvPr>
          <p:cNvSpPr/>
          <p:nvPr userDrawn="1"/>
        </p:nvSpPr>
        <p:spPr>
          <a:xfrm>
            <a:off x="11608904" y="4338067"/>
            <a:ext cx="3180522" cy="7926820"/>
          </a:xfrm>
          <a:prstGeom prst="roundRect">
            <a:avLst/>
          </a:prstGeom>
          <a:solidFill>
            <a:srgbClr val="FFB612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4" name="Tekstvak 42">
            <a:extLst>
              <a:ext uri="{FF2B5EF4-FFF2-40B4-BE49-F238E27FC236}">
                <a16:creationId xmlns:a16="http://schemas.microsoft.com/office/drawing/2014/main" id="{D89CAC9C-16E0-1C47-B092-5C4ED857D2D0}"/>
              </a:ext>
            </a:extLst>
          </p:cNvPr>
          <p:cNvSpPr txBox="1"/>
          <p:nvPr userDrawn="1"/>
        </p:nvSpPr>
        <p:spPr>
          <a:xfrm>
            <a:off x="11177802" y="5112791"/>
            <a:ext cx="3840490" cy="87227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nl-NL" sz="2000" b="1" dirty="0">
                <a:solidFill>
                  <a:schemeClr val="tx1"/>
                </a:solidFill>
              </a:rPr>
              <a:t>Gegevens-</a:t>
            </a:r>
          </a:p>
          <a:p>
            <a:pPr algn="ctr"/>
            <a:r>
              <a:rPr lang="nl-NL" sz="2000" b="1" dirty="0">
                <a:solidFill>
                  <a:schemeClr val="tx1"/>
                </a:solidFill>
              </a:rPr>
              <a:t>uitwisseling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1696038-7102-5A44-9D9D-E49B0B400457}"/>
              </a:ext>
            </a:extLst>
          </p:cNvPr>
          <p:cNvSpPr/>
          <p:nvPr userDrawn="1"/>
        </p:nvSpPr>
        <p:spPr>
          <a:xfrm>
            <a:off x="15043007" y="4338067"/>
            <a:ext cx="3180522" cy="7926820"/>
          </a:xfrm>
          <a:prstGeom prst="roundRect">
            <a:avLst/>
          </a:prstGeom>
          <a:solidFill>
            <a:srgbClr val="76D2B6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Tekstvak 42">
            <a:extLst>
              <a:ext uri="{FF2B5EF4-FFF2-40B4-BE49-F238E27FC236}">
                <a16:creationId xmlns:a16="http://schemas.microsoft.com/office/drawing/2014/main" id="{64CF29EA-4F73-6B47-B969-6A3B90EDC490}"/>
              </a:ext>
            </a:extLst>
          </p:cNvPr>
          <p:cNvSpPr txBox="1"/>
          <p:nvPr userDrawn="1"/>
        </p:nvSpPr>
        <p:spPr>
          <a:xfrm>
            <a:off x="14636620" y="5112791"/>
            <a:ext cx="3840490" cy="87227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nl-NL" sz="2000" b="1" dirty="0">
                <a:solidFill>
                  <a:schemeClr val="tx1"/>
                </a:solidFill>
              </a:rPr>
              <a:t>Infrastructuur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EBA388-35E6-3C4A-9105-50727D424FBF}"/>
              </a:ext>
            </a:extLst>
          </p:cNvPr>
          <p:cNvSpPr txBox="1"/>
          <p:nvPr userDrawn="1"/>
        </p:nvSpPr>
        <p:spPr>
          <a:xfrm>
            <a:off x="2085491" y="6440557"/>
            <a:ext cx="2606641" cy="548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nl-NL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Stelsels</a:t>
            </a: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nl-NL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Standaarden</a:t>
            </a: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nl-NL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Voorzieningen</a:t>
            </a: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endParaRPr lang="nl-NL" sz="1600" b="1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l"/>
            <a:r>
              <a:rPr lang="nl-NL" sz="16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Dienstverlening</a:t>
            </a:r>
            <a:endParaRPr lang="nl-NL" sz="1600" b="1" dirty="0">
              <a:solidFill>
                <a:schemeClr val="tx1"/>
              </a:solidFill>
            </a:endParaRPr>
          </a:p>
          <a:p>
            <a:pPr algn="l"/>
            <a:endParaRPr lang="en-NL" sz="1600" b="1" dirty="0" err="1"/>
          </a:p>
        </p:txBody>
      </p:sp>
      <p:sp>
        <p:nvSpPr>
          <p:cNvPr id="28" name="Tekstvak 42">
            <a:extLst>
              <a:ext uri="{FF2B5EF4-FFF2-40B4-BE49-F238E27FC236}">
                <a16:creationId xmlns:a16="http://schemas.microsoft.com/office/drawing/2014/main" id="{C53782CF-353A-B44E-ABE3-DDADD89D0993}"/>
              </a:ext>
            </a:extLst>
          </p:cNvPr>
          <p:cNvSpPr txBox="1"/>
          <p:nvPr userDrawn="1"/>
        </p:nvSpPr>
        <p:spPr>
          <a:xfrm>
            <a:off x="18477110" y="5000204"/>
            <a:ext cx="3840490" cy="1271915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nl-NL" sz="2000" b="1" dirty="0">
                <a:solidFill>
                  <a:schemeClr val="tx1"/>
                </a:solidFill>
              </a:rPr>
              <a:t>Regie op stelsels</a:t>
            </a:r>
          </a:p>
          <a:p>
            <a:pPr algn="ctr"/>
            <a:r>
              <a:rPr lang="nl-NL" sz="2000" b="1" dirty="0">
                <a:solidFill>
                  <a:schemeClr val="tx1"/>
                </a:solidFill>
              </a:rPr>
              <a:t>En standaarden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B96E7A2-3DE5-D746-A3E7-5D5B9CE54D43}"/>
              </a:ext>
            </a:extLst>
          </p:cNvPr>
          <p:cNvCxnSpPr/>
          <p:nvPr userDrawn="1"/>
        </p:nvCxnSpPr>
        <p:spPr>
          <a:xfrm>
            <a:off x="5128591" y="6172729"/>
            <a:ext cx="2365513" cy="0"/>
          </a:xfrm>
          <a:prstGeom prst="line">
            <a:avLst/>
          </a:prstGeom>
          <a:ln w="222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9CED6AB-CA72-E94A-9038-1FDA5A2C2C80}"/>
              </a:ext>
            </a:extLst>
          </p:cNvPr>
          <p:cNvCxnSpPr/>
          <p:nvPr userDrawn="1"/>
        </p:nvCxnSpPr>
        <p:spPr>
          <a:xfrm>
            <a:off x="8567529" y="6172729"/>
            <a:ext cx="2365513" cy="0"/>
          </a:xfrm>
          <a:prstGeom prst="line">
            <a:avLst/>
          </a:prstGeom>
          <a:ln w="22225">
            <a:solidFill>
              <a:srgbClr val="8FCAE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F407C73-60EA-D54F-A2C5-C7594DC8DC1D}"/>
              </a:ext>
            </a:extLst>
          </p:cNvPr>
          <p:cNvCxnSpPr/>
          <p:nvPr userDrawn="1"/>
        </p:nvCxnSpPr>
        <p:spPr>
          <a:xfrm>
            <a:off x="12006469" y="6172729"/>
            <a:ext cx="2365513" cy="0"/>
          </a:xfrm>
          <a:prstGeom prst="line">
            <a:avLst/>
          </a:prstGeom>
          <a:ln w="22225">
            <a:solidFill>
              <a:srgbClr val="FFB61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CADB902-23BA-1B4A-9FA9-F2A24AC15558}"/>
              </a:ext>
            </a:extLst>
          </p:cNvPr>
          <p:cNvCxnSpPr/>
          <p:nvPr userDrawn="1"/>
        </p:nvCxnSpPr>
        <p:spPr>
          <a:xfrm>
            <a:off x="15385773" y="6172729"/>
            <a:ext cx="2365513" cy="0"/>
          </a:xfrm>
          <a:prstGeom prst="line">
            <a:avLst/>
          </a:prstGeom>
          <a:ln w="22225">
            <a:solidFill>
              <a:srgbClr val="76D2B6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39336C-A91C-A44E-947D-69603D843ED5}"/>
              </a:ext>
            </a:extLst>
          </p:cNvPr>
          <p:cNvCxnSpPr>
            <a:cxnSpLocks/>
          </p:cNvCxnSpPr>
          <p:nvPr userDrawn="1"/>
        </p:nvCxnSpPr>
        <p:spPr>
          <a:xfrm>
            <a:off x="2160001" y="7405178"/>
            <a:ext cx="1631710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50D0263-6B18-0444-8985-0DED86009760}"/>
              </a:ext>
            </a:extLst>
          </p:cNvPr>
          <p:cNvCxnSpPr>
            <a:cxnSpLocks/>
          </p:cNvCxnSpPr>
          <p:nvPr userDrawn="1"/>
        </p:nvCxnSpPr>
        <p:spPr>
          <a:xfrm>
            <a:off x="2160001" y="8935803"/>
            <a:ext cx="1631710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27678EC-86B9-0149-A7A6-CADA8470608D}"/>
              </a:ext>
            </a:extLst>
          </p:cNvPr>
          <p:cNvCxnSpPr>
            <a:cxnSpLocks/>
          </p:cNvCxnSpPr>
          <p:nvPr userDrawn="1"/>
        </p:nvCxnSpPr>
        <p:spPr>
          <a:xfrm>
            <a:off x="2160001" y="11400710"/>
            <a:ext cx="1631710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7BD880A-C6F9-274C-BD3B-C7D74021C993}"/>
              </a:ext>
            </a:extLst>
          </p:cNvPr>
          <p:cNvSpPr txBox="1"/>
          <p:nvPr userDrawn="1"/>
        </p:nvSpPr>
        <p:spPr>
          <a:xfrm>
            <a:off x="5047352" y="6440557"/>
            <a:ext cx="3062978" cy="555016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PKIoverheid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eHerkenning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PKIoverheid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Organisatie-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identificatienummer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(OIN)</a:t>
            </a: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DigiD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DigiD</a:t>
            </a:r>
            <a:r>
              <a:rPr lang="nl-NL" sz="1600" dirty="0">
                <a:solidFill>
                  <a:prstClr val="black"/>
                </a:solidFill>
                <a:latin typeface="+mn-lt"/>
              </a:rPr>
              <a:t> Machtigen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Routeringsvoorziening</a:t>
            </a: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BSNk</a:t>
            </a:r>
            <a:r>
              <a:rPr lang="nl-NL" sz="1600" dirty="0">
                <a:solidFill>
                  <a:prstClr val="black"/>
                </a:solidFill>
                <a:latin typeface="+mn-lt"/>
              </a:rPr>
              <a:t> PP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Machtigingenregister</a:t>
            </a: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marL="0" marR="0" lvl="0" indent="0" algn="l" defTabSz="2285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600" dirty="0" err="1">
                <a:solidFill>
                  <a:prstClr val="black"/>
                </a:solidFill>
                <a:latin typeface="+mn-lt"/>
              </a:rPr>
              <a:t>eIDAS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410103E-752E-D74F-977D-93E487F4FD3F}"/>
              </a:ext>
            </a:extLst>
          </p:cNvPr>
          <p:cNvSpPr txBox="1"/>
          <p:nvPr userDrawn="1"/>
        </p:nvSpPr>
        <p:spPr>
          <a:xfrm>
            <a:off x="8486291" y="6440556"/>
            <a:ext cx="3062978" cy="54864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DigiToegankelijk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MijnOverheid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06300C-D868-5142-AA48-40EBF6417D26}"/>
              </a:ext>
            </a:extLst>
          </p:cNvPr>
          <p:cNvSpPr txBox="1"/>
          <p:nvPr userDrawn="1"/>
        </p:nvSpPr>
        <p:spPr>
          <a:xfrm>
            <a:off x="11885474" y="6440556"/>
            <a:ext cx="3062978" cy="548640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Standard Business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Reporting (SBR)</a:t>
            </a: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Peppol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Digikoppeling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XBRL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API-standaarden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E-</a:t>
            </a:r>
            <a:r>
              <a:rPr lang="nl-NL" sz="1600" dirty="0" err="1">
                <a:solidFill>
                  <a:prstClr val="black"/>
                </a:solidFill>
                <a:latin typeface="+mn-lt"/>
              </a:rPr>
              <a:t>procurement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Digipoort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Stelselvoorzieningen</a:t>
            </a: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Digilevering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Digimelding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Stelselcatalogus</a:t>
            </a: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Digikoppeling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DigiInkoop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E-factureren</a:t>
            </a: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3D9E6E6-BD1E-7B46-9A25-FCB68F0EF09A}"/>
              </a:ext>
            </a:extLst>
          </p:cNvPr>
          <p:cNvSpPr txBox="1"/>
          <p:nvPr userDrawn="1"/>
        </p:nvSpPr>
        <p:spPr>
          <a:xfrm>
            <a:off x="15304537" y="6440557"/>
            <a:ext cx="3062978" cy="5486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228554"/>
            <a:r>
              <a:rPr lang="nl-NL" sz="1600" dirty="0" err="1">
                <a:solidFill>
                  <a:prstClr val="black"/>
                </a:solidFill>
                <a:latin typeface="+mn-lt"/>
              </a:rPr>
              <a:t>Diginetwerk</a:t>
            </a:r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IPv6 </a:t>
            </a:r>
            <a:r>
              <a:rPr lang="nl-NL" sz="1600" dirty="0" err="1">
                <a:solidFill>
                  <a:prstClr val="black"/>
                </a:solidFill>
                <a:latin typeface="+mn-lt"/>
              </a:rPr>
              <a:t>Overheidsbreed</a:t>
            </a:r>
            <a:r>
              <a:rPr lang="nl-NL" sz="1600" dirty="0">
                <a:solidFill>
                  <a:prstClr val="black"/>
                </a:solidFill>
                <a:latin typeface="+mn-lt"/>
              </a:rPr>
              <a:t> 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Nummerplankader</a:t>
            </a: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Samenwerkende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Catalogi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BOMOS</a:t>
            </a: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Standaard Platform</a:t>
            </a:r>
          </a:p>
          <a:p>
            <a:pPr defTabSz="228554"/>
            <a:r>
              <a:rPr lang="nl-NL" sz="1600" dirty="0">
                <a:solidFill>
                  <a:prstClr val="black"/>
                </a:solidFill>
                <a:latin typeface="+mn-lt"/>
              </a:rPr>
              <a:t>Centraal Aansluitpunt</a:t>
            </a:r>
          </a:p>
          <a:p>
            <a:pPr defTabSz="228554"/>
            <a:endParaRPr lang="nl-NL" sz="1600" dirty="0">
              <a:solidFill>
                <a:prstClr val="black"/>
              </a:solidFill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317C2D-6837-ECAE-3E2B-81C66459E4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720257" y="6613178"/>
            <a:ext cx="1363494" cy="13634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80DC9E4-857B-6D1C-84B6-8E91B503F5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930627" y="3636709"/>
            <a:ext cx="1405281" cy="14052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FFDDB9-03DB-15C6-912F-DC5C6DA8176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500160" y="3643984"/>
            <a:ext cx="1398010" cy="13980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EA7B19-2AFC-33DA-A708-600E7CDBFD8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591585" y="3646842"/>
            <a:ext cx="1396315" cy="1396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2C06B6-A40A-CAE7-AC8D-0BB2CA9664F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081285" y="3645995"/>
            <a:ext cx="1398010" cy="139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723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1 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69A9-79A0-9D4C-B941-33558DACC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defTabSz="914217"/>
            <a:r>
              <a:rPr lang="nl-NL" sz="4800" dirty="0" err="1">
                <a:solidFill>
                  <a:srgbClr val="39870C"/>
                </a:solidFill>
                <a:latin typeface="+mj-lt"/>
              </a:rPr>
              <a:t>Roadmap</a:t>
            </a:r>
            <a:endParaRPr lang="nl-NL" sz="4800" dirty="0">
              <a:solidFill>
                <a:srgbClr val="39870C"/>
              </a:solidFill>
              <a:latin typeface="+mj-lt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F1E9B-E546-2A45-949C-AEF405F6A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B5A39-1C91-264F-9A4D-229FF28BF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pPr/>
              <a:t>‹nr.›</a:t>
            </a:fld>
            <a:endParaRPr lang="nl-NL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877A7C48-EF94-ED47-BF38-92D5503A17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F90A157-2562-804C-9EC5-996CD09399B5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77" descr="Icon&#10;&#10;Description automatically generated">
            <a:extLst>
              <a:ext uri="{FF2B5EF4-FFF2-40B4-BE49-F238E27FC236}">
                <a16:creationId xmlns:a16="http://schemas.microsoft.com/office/drawing/2014/main" id="{5B705640-34BD-8340-B1FA-D0BF7DBEE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62"/>
          <a:stretch/>
        </p:blipFill>
        <p:spPr>
          <a:xfrm>
            <a:off x="-170120" y="3253119"/>
            <a:ext cx="24640575" cy="1065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5322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0 Visual domei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36D67B7-43E2-2241-8D2A-60D85FC90F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4"/>
          <a:stretch/>
        </p:blipFill>
        <p:spPr>
          <a:xfrm>
            <a:off x="846677" y="2091090"/>
            <a:ext cx="22693821" cy="1162491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F83E6D4-F846-2B73-ADE0-95A9D171505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20040" y="11954402"/>
            <a:ext cx="610870" cy="6108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E1AF3F-860E-909D-114D-CFECF111B9E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322579" y="3368237"/>
            <a:ext cx="610870" cy="610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9B901DC-2872-A595-03F7-052D224338B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888152" y="8386445"/>
            <a:ext cx="610870" cy="6108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450648-CC73-61F1-18FF-D194049DE5A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888152" y="5151815"/>
            <a:ext cx="610870" cy="6108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B46280-2D3A-FC8D-538D-4B2D6D393AB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736205" y="6833870"/>
            <a:ext cx="610870" cy="61087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B045FD-7E0D-B5D0-5611-DDE8C1D4D986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6023470" y="6833870"/>
            <a:ext cx="610870" cy="61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3263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 Toegang Kernboodsch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A06225AB-BE4F-6742-BC9F-D9B7BD5A896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3FFC2806-5D7F-2442-A9B3-7DEBAE7C1A89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cxnSp>
        <p:nvCxnSpPr>
          <p:cNvPr id="13" name="Straight Connector 11">
            <a:extLst>
              <a:ext uri="{FF2B5EF4-FFF2-40B4-BE49-F238E27FC236}">
                <a16:creationId xmlns:a16="http://schemas.microsoft.com/office/drawing/2014/main" id="{5CCC342B-AFEF-3446-92BB-68EC0D7E48FC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925227"/>
            <a:ext cx="10115308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3DA189A9-8435-674E-9086-BF70C66EDE49}"/>
              </a:ext>
            </a:extLst>
          </p:cNvPr>
          <p:cNvSpPr txBox="1"/>
          <p:nvPr userDrawn="1"/>
        </p:nvSpPr>
        <p:spPr>
          <a:xfrm>
            <a:off x="12933600" y="3741893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Toegang verlenen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9F0D01FF-6353-3742-AD0C-0C9447884F82}"/>
              </a:ext>
            </a:extLst>
          </p:cNvPr>
          <p:cNvSpPr txBox="1"/>
          <p:nvPr userDrawn="1"/>
        </p:nvSpPr>
        <p:spPr>
          <a:xfrm>
            <a:off x="12920598" y="5355578"/>
            <a:ext cx="10128310" cy="43115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 diensten en producten van Logius kan</a:t>
            </a: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veilig en makkelijk toegang worden gegeven</a:t>
            </a: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 online dienstverlening. Niet alleen vanuit Nederland, maar ook daarbuiten.</a:t>
            </a:r>
          </a:p>
          <a:p>
            <a:endParaRPr lang="nl-NL" sz="3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Vaak gaat het om privacygevoelige gegevens. Logius biedt de zekerheid dat gegevens met</a:t>
            </a: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juiste persoon of het juiste bedrijf worden gedeeld.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E50553-8E25-A511-4F26-2915E2DD702F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2" y="464400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0273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 Toegang Kernboodschap met illustr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0657DD06-3159-7844-A0B8-10A1256450E2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F9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E08DB017-C0CC-1A41-82D3-8D5F901A84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00" y="3020400"/>
            <a:ext cx="8292338" cy="748800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4393D92E-8B5A-784A-A7AC-AA2BE38CAAAD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925227"/>
            <a:ext cx="10115308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90A95DE3-3C57-6E49-AFED-CFAB31FBD32E}"/>
              </a:ext>
            </a:extLst>
          </p:cNvPr>
          <p:cNvSpPr txBox="1"/>
          <p:nvPr userDrawn="1"/>
        </p:nvSpPr>
        <p:spPr>
          <a:xfrm>
            <a:off x="12933600" y="3741893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Toegang verlenen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D777F8B9-B701-284F-A9D3-5017B023626C}"/>
              </a:ext>
            </a:extLst>
          </p:cNvPr>
          <p:cNvSpPr txBox="1"/>
          <p:nvPr userDrawn="1"/>
        </p:nvSpPr>
        <p:spPr>
          <a:xfrm>
            <a:off x="12920598" y="5355578"/>
            <a:ext cx="10128310" cy="431155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 diensten en producten van Logius kan</a:t>
            </a: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veilig en makkelijk toegang worden gegeven</a:t>
            </a: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 online dienstverlening. Niet alleen vanuit Nederland, maar ook daarbuiten.</a:t>
            </a:r>
          </a:p>
          <a:p>
            <a:endParaRPr lang="nl-NL" sz="3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Vaak gaat het om privacygevoelige gegevens. Logius biedt de zekerheid dat gegevens met</a:t>
            </a:r>
          </a:p>
          <a:p>
            <a:r>
              <a:rPr lang="nl-NL" sz="3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juiste persoon of het juiste bedrijf worden gedeeld. </a:t>
            </a:r>
          </a:p>
        </p:txBody>
      </p:sp>
      <p:pic>
        <p:nvPicPr>
          <p:cNvPr id="15" name="Picture 10">
            <a:extLst>
              <a:ext uri="{FF2B5EF4-FFF2-40B4-BE49-F238E27FC236}">
                <a16:creationId xmlns:a16="http://schemas.microsoft.com/office/drawing/2014/main" id="{A06225AB-BE4F-6742-BC9F-D9B7BD5A896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3FFC2806-5D7F-2442-A9B3-7DEBAE7C1A89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B714A4-9602-17C1-B832-0EE483777E2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8874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3 Toegang Tussenbla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Logo">
            <a:extLst>
              <a:ext uri="{FF2B5EF4-FFF2-40B4-BE49-F238E27FC236}">
                <a16:creationId xmlns:a16="http://schemas.microsoft.com/office/drawing/2014/main" id="{7E6F2157-E24D-D946-BAAF-5D051AFAF5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kstvak 4">
            <a:extLst>
              <a:ext uri="{FF2B5EF4-FFF2-40B4-BE49-F238E27FC236}">
                <a16:creationId xmlns:a16="http://schemas.microsoft.com/office/drawing/2014/main" id="{1A3A5AC5-777F-FF43-91CA-0AD52F132250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/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81DD064-4EF2-DC48-8B4B-25D2A37845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12587" y="4292600"/>
            <a:ext cx="762000" cy="9423400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2C71E140-DB11-0642-A23F-68EB8D19B9DE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4A9591-FEF9-7A41-9C49-A97E608BF217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FFBB216-F44A-8140-AC57-7CEDEA0A081E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872D1F-FE40-6146-91C8-80D5B680D5F2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E68C964-8D94-6245-A0C5-884F65E650FC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230947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4 Toegang Tussenblad met tekst">
    <p:bg>
      <p:bgPr>
        <a:solidFill>
          <a:srgbClr val="E17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7CFF2726-F60B-0C4F-B20D-21B866795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23" name="Tekstvak 4">
            <a:extLst>
              <a:ext uri="{FF2B5EF4-FFF2-40B4-BE49-F238E27FC236}">
                <a16:creationId xmlns:a16="http://schemas.microsoft.com/office/drawing/2014/main" id="{5F403CDF-484D-F747-AFC5-269CA916EBF2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/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FBC45E-81C6-3F45-86D7-2FBE47219C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12587" y="4292600"/>
            <a:ext cx="762000" cy="9423400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100148D0-93D0-E14F-BDAE-D82C7F326F48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2A4AFB5-0316-6740-9A10-7BFB7F090206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882616-40FC-5741-B25A-F53D270A2752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F24DEE7-E691-A049-8282-742DA4867F63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2C487CF-FBE6-4343-9FCF-AAFD41A60295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5AF8086-D262-5648-A91E-50156F108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89010" y="4404188"/>
            <a:ext cx="9637381" cy="3870324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849676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5 Toegang Tussenblad Oranje">
    <p:bg>
      <p:bgPr>
        <a:solidFill>
          <a:srgbClr val="E17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5CA31EA-DB7A-4D23-BFD2-CB6577085181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bg1"/>
                </a:solidFill>
              </a:rPr>
              <a:t>Toegang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0811765C-CAE6-B14F-A579-DA3EA0A88197}"/>
              </a:ext>
            </a:extLst>
          </p:cNvPr>
          <p:cNvSpPr/>
          <p:nvPr userDrawn="1"/>
        </p:nvSpPr>
        <p:spPr>
          <a:xfrm>
            <a:off x="11811987" y="11182471"/>
            <a:ext cx="763200" cy="2533529"/>
          </a:xfrm>
          <a:prstGeom prst="rect">
            <a:avLst/>
          </a:prstGeom>
          <a:solidFill>
            <a:srgbClr val="EDA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8FF222A-C29B-754C-BC00-28ABFD8EFD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9E7DAB-6A7B-399C-0628-0E0F0BF5FC7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6" y="10802401"/>
            <a:ext cx="763199" cy="76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9518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6 Toegang Tussenblad Licht Oranje">
    <p:bg>
      <p:bgPr>
        <a:solidFill>
          <a:srgbClr val="F9E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6409286-E4AB-AB41-9C8D-E6F3AFEFDB95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Toegang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01132E7E-094D-CB4D-B255-37D2C5B3D2D9}"/>
              </a:ext>
            </a:extLst>
          </p:cNvPr>
          <p:cNvSpPr/>
          <p:nvPr userDrawn="1"/>
        </p:nvSpPr>
        <p:spPr>
          <a:xfrm>
            <a:off x="11811987" y="11188297"/>
            <a:ext cx="763200" cy="2527704"/>
          </a:xfrm>
          <a:prstGeom prst="rect">
            <a:avLst/>
          </a:prstGeom>
          <a:solidFill>
            <a:srgbClr val="FCF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4FEF6653-FDBC-CB40-8667-C43D4C4EBB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ABDCC4-313B-F4A3-F548-4B8576E0069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95083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7 Toegang Beeld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636F92F-B88A-4976-9DCD-56BF05853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354502A-62EC-D64A-B8A5-214E392C7D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C2176DC6-7D77-304A-9F76-585E3BF0439A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2423AD-1788-5324-C4D0-0AC85B2AFD0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0158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8 Toegang visual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>
            <a:extLst>
              <a:ext uri="{FF2B5EF4-FFF2-40B4-BE49-F238E27FC236}">
                <a16:creationId xmlns:a16="http://schemas.microsoft.com/office/drawing/2014/main" id="{694EA0F2-8BB0-C941-8081-2A221CE58B9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85B02D8-94FE-E743-BF10-FCCF83D61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354502A-62EC-D64A-B8A5-214E392C7D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C2176DC6-7D77-304A-9F76-585E3BF0439A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8665D3-BCA5-118E-4553-F03B44A6876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7128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9 Toegang Beeld voorbeeld –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76C17972-288F-054E-8236-F58300453B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7" y="4980"/>
            <a:ext cx="12183145" cy="13706039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354502A-62EC-D64A-B8A5-214E392C7D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C2176DC6-7D77-304A-9F76-585E3BF0439A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47E71D-86EF-47F9-E566-C0B6BA5C9EF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059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0 Toegang Illustratie -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B43FF0B-77E7-4F47-8E9E-79C2AF5418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F9E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B2067669-1CC0-5846-927A-0A37181306EF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3DA71101-4776-4641-B909-F9DB07EAB4D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00" y="3020400"/>
            <a:ext cx="8292338" cy="74880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B81A84-3259-1542-B0A4-6B93DA24C243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49F6AA18-B6C0-4541-8935-089D514620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03FB1E6D-D763-2645-A99F-2C1E9E1F6A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BC2DF3-503C-5FEA-D3FF-69FEAEE46FB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097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1 Toegang Twee kolommen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10005046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10070701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7" y="3726000"/>
            <a:ext cx="10115308" cy="8702675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A954BB3E-ADCE-A741-83C0-46CE52CC50B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55957BE6-15DD-E74F-94EE-159CD092F6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9E233DF-287A-024B-A85C-C41538AA28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2" name="Picture 6">
            <a:extLst>
              <a:ext uri="{FF2B5EF4-FFF2-40B4-BE49-F238E27FC236}">
                <a16:creationId xmlns:a16="http://schemas.microsoft.com/office/drawing/2014/main" id="{556D548D-9F19-6640-BA13-2DC5F552DF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43A778F9-56CC-3841-B5AB-7551E324F24C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11CF0-A558-0CA8-F3DA-D491F3F96E8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490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2 Toegang Tekst over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21710640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6" y="3726000"/>
            <a:ext cx="21710641" cy="8702675"/>
          </a:xfrm>
        </p:spPr>
        <p:txBody>
          <a:bodyPr numCol="2" spcCol="108000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556D548D-9F19-6640-BA13-2DC5F552DF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43A778F9-56CC-3841-B5AB-7551E324F24C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3B93F-1F8C-87F0-38A0-04A3FC224B9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421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3 Toegang Tabel of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755" y="1725278"/>
            <a:ext cx="21689664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E17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7BF9B7D8-7E90-244C-8B2F-C2B69B36DED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348756" y="3714749"/>
            <a:ext cx="21689664" cy="8640425"/>
          </a:xfrm>
        </p:spPr>
        <p:txBody>
          <a:bodyPr/>
          <a:lstStyle/>
          <a:p>
            <a:endParaRPr lang="nl-NL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E118A022-2E33-AE43-96B0-C1A78C4936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E6FCF774-F7F6-124D-B2F2-189BDADBB1F4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A71845-1F60-FF10-D57C-5E1B40E28EE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2398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4 Toegang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E97658EF-1099-4CB2-8E8E-A889FB17C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373FBD78-CF79-194C-AE0C-4D2B17A16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315972" y="464400"/>
            <a:ext cx="8071203" cy="951668"/>
          </a:xfrm>
          <a:prstGeom prst="rect">
            <a:avLst/>
          </a:prstGeom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0A26850D-6BAD-6842-A49D-992D4036E4C1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Toegang</a:t>
            </a:r>
          </a:p>
        </p:txBody>
      </p:sp>
      <p:sp>
        <p:nvSpPr>
          <p:cNvPr id="7" name="Tijdelijke aanduiding voor afbeelding 3">
            <a:extLst>
              <a:ext uri="{FF2B5EF4-FFF2-40B4-BE49-F238E27FC236}">
                <a16:creationId xmlns:a16="http://schemas.microsoft.com/office/drawing/2014/main" id="{1285364B-54E1-FE4C-AC63-24684CF4CA1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0" y="1927123"/>
            <a:ext cx="24387175" cy="11788877"/>
          </a:xfrm>
        </p:spPr>
        <p:txBody>
          <a:bodyPr/>
          <a:lstStyle/>
          <a:p>
            <a:endParaRPr lang="nl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6C5FE7-52ED-4861-5A5C-B3121B649C5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315972" y="464401"/>
            <a:ext cx="951668" cy="95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474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 Interactie Kernboodsch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8FCA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4393D92E-8B5A-784A-A7AC-AA2BE38CAAAD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5126395"/>
            <a:ext cx="10115308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90A95DE3-3C57-6E49-AFED-CFAB31FBD32E}"/>
              </a:ext>
            </a:extLst>
          </p:cNvPr>
          <p:cNvSpPr txBox="1"/>
          <p:nvPr userDrawn="1"/>
        </p:nvSpPr>
        <p:spPr>
          <a:xfrm>
            <a:off x="12933600" y="3943061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Interactie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D777F8B9-B701-284F-A9D3-5017B023626C}"/>
              </a:ext>
            </a:extLst>
          </p:cNvPr>
          <p:cNvSpPr txBox="1"/>
          <p:nvPr userDrawn="1"/>
        </p:nvSpPr>
        <p:spPr>
          <a:xfrm>
            <a:off x="12920598" y="5556746"/>
            <a:ext cx="10128310" cy="39164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Burgers en ondernemers kunt u op een </a:t>
            </a:r>
          </a:p>
          <a:p>
            <a:pPr eaLnBrk="0" hangingPunct="0"/>
            <a:r>
              <a:rPr lang="nl-NL" sz="3200" dirty="0"/>
              <a:t>veilige en toegankelijke manier attenderen op belangrijke zaken met een digitaal bericht. 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Ook kunt u iemand inzicht geven in zijn of haar geregistreerde gegevens en diegene de regie geven over deze persoonsgegevens, waaronder het delen met anderen.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6455DB3-77EF-6540-B258-AD1A724B09B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15972" y="464159"/>
            <a:ext cx="7833078" cy="964483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8B92C893-A9DE-0E48-96BD-91C2062CEDE0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E3AE42-696E-20F2-C2BD-75700BDDB3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669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2 Interactie Kernboodschap met illustr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E9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EEFDCA7-E988-A94C-9779-1A39DDF4262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FDD3A463-C2D8-EE43-83F5-7F9607FD6FBE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C67AE91F-035B-2547-9EB3-8B00F9CA60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38" y="3232150"/>
            <a:ext cx="6858000" cy="7251700"/>
          </a:xfrm>
          <a:prstGeom prst="rect">
            <a:avLst/>
          </a:prstGeom>
        </p:spPr>
      </p:pic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id="{F6CEE914-9D13-D54B-B5CA-8819BC535BB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5126395"/>
            <a:ext cx="10115308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75A6C407-3710-9346-ADD7-4A886ED09A77}"/>
              </a:ext>
            </a:extLst>
          </p:cNvPr>
          <p:cNvSpPr txBox="1"/>
          <p:nvPr userDrawn="1"/>
        </p:nvSpPr>
        <p:spPr>
          <a:xfrm>
            <a:off x="12933600" y="3943061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Interactie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345D07BC-5871-5744-8C5A-1096E40EC17A}"/>
              </a:ext>
            </a:extLst>
          </p:cNvPr>
          <p:cNvSpPr txBox="1"/>
          <p:nvPr userDrawn="1"/>
        </p:nvSpPr>
        <p:spPr>
          <a:xfrm>
            <a:off x="12920598" y="5556746"/>
            <a:ext cx="10128310" cy="39164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Burgers en ondernemers kunt u op een </a:t>
            </a:r>
          </a:p>
          <a:p>
            <a:pPr eaLnBrk="0" hangingPunct="0"/>
            <a:r>
              <a:rPr lang="nl-NL" sz="3200" dirty="0"/>
              <a:t>veilige en toegankelijke manier attenderen op belangrijke zaken met een digitaal bericht. 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Ook kunt u iemand inzicht geven in zijn of haar geregistreerde gegevens en diegene de regie geven over deze persoonsgegevens, waaronder het delen met anderen.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CC7993-13C4-F897-28B5-B2F77D53838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72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3 Interactie Tussenblad">
    <p:bg>
      <p:bgPr>
        <a:solidFill>
          <a:srgbClr val="8FC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331C26AA-4B81-8845-9CF9-4F4B2321F4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2587" y="4316805"/>
            <a:ext cx="763200" cy="9414035"/>
          </a:xfrm>
          <a:prstGeom prst="rect">
            <a:avLst/>
          </a:prstGeom>
        </p:spPr>
      </p:pic>
      <p:pic>
        <p:nvPicPr>
          <p:cNvPr id="23" name="Logo">
            <a:extLst>
              <a:ext uri="{FF2B5EF4-FFF2-40B4-BE49-F238E27FC236}">
                <a16:creationId xmlns:a16="http://schemas.microsoft.com/office/drawing/2014/main" id="{7E6F2157-E24D-D946-BAAF-5D051AFAF5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kstvak 4">
            <a:extLst>
              <a:ext uri="{FF2B5EF4-FFF2-40B4-BE49-F238E27FC236}">
                <a16:creationId xmlns:a16="http://schemas.microsoft.com/office/drawing/2014/main" id="{1A3A5AC5-777F-FF43-91CA-0AD52F132250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endParaRPr lang="nl-NL" sz="4100" dirty="0"/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tx1"/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71E140-DB11-0642-A23F-68EB8D19B9DE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4A9591-FEF9-7A41-9C49-A97E608BF217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FFBB216-F44A-8140-AC57-7CEDEA0A081E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872D1F-FE40-6146-91C8-80D5B680D5F2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E68C964-8D94-6245-A0C5-884F65E650FC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875152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4 Interactie Tussenblad met tekst">
    <p:bg>
      <p:bgPr>
        <a:solidFill>
          <a:srgbClr val="8FC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7CFF2726-F60B-0C4F-B20D-21B866795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5AF8086-D262-5648-A91E-50156F108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89010" y="4404188"/>
            <a:ext cx="9637381" cy="387032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C78BA1C6-0528-9540-AF01-7359541FC13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12587" y="4316805"/>
            <a:ext cx="763200" cy="9414035"/>
          </a:xfrm>
          <a:prstGeom prst="rect">
            <a:avLst/>
          </a:prstGeom>
        </p:spPr>
      </p:pic>
      <p:sp>
        <p:nvSpPr>
          <p:cNvPr id="13" name="Tekstvak 4">
            <a:extLst>
              <a:ext uri="{FF2B5EF4-FFF2-40B4-BE49-F238E27FC236}">
                <a16:creationId xmlns:a16="http://schemas.microsoft.com/office/drawing/2014/main" id="{93F48887-FE7F-3C4D-8527-5686CABA38F0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  <a:endParaRPr lang="nl-NL" sz="4100" dirty="0">
              <a:solidFill>
                <a:schemeClr val="bg1"/>
              </a:solidFill>
            </a:endParaRPr>
          </a:p>
          <a:p>
            <a:pPr algn="r">
              <a:lnSpc>
                <a:spcPct val="92000"/>
              </a:lnSpc>
            </a:pPr>
            <a:endParaRPr lang="nl-NL" sz="4100" dirty="0"/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tx1"/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sp>
        <p:nvSpPr>
          <p:cNvPr id="14" name="Oval 32">
            <a:extLst>
              <a:ext uri="{FF2B5EF4-FFF2-40B4-BE49-F238E27FC236}">
                <a16:creationId xmlns:a16="http://schemas.microsoft.com/office/drawing/2014/main" id="{8D08F2E8-28E6-2747-8AF8-18DDF62F915F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5" name="Oval 33">
            <a:extLst>
              <a:ext uri="{FF2B5EF4-FFF2-40B4-BE49-F238E27FC236}">
                <a16:creationId xmlns:a16="http://schemas.microsoft.com/office/drawing/2014/main" id="{E60D734B-A8F6-DB44-A198-EF66B5189E1D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9CDEDE91-8780-8B4F-99CE-4A7B966D9F7F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5F11A7B0-8FF7-A441-B1F6-5077DD1410BB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8" name="Oval 36">
            <a:extLst>
              <a:ext uri="{FF2B5EF4-FFF2-40B4-BE49-F238E27FC236}">
                <a16:creationId xmlns:a16="http://schemas.microsoft.com/office/drawing/2014/main" id="{E8A02DBF-ACBC-AD48-9A58-BA1BCA3416D5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6491767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5 Interactie Tussenblad Blauw">
    <p:bg>
      <p:bgPr>
        <a:solidFill>
          <a:srgbClr val="8FCA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5CA31EA-DB7A-4D23-BFD2-CB6577085181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Interactie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0811765C-CAE6-B14F-A579-DA3EA0A88197}"/>
              </a:ext>
            </a:extLst>
          </p:cNvPr>
          <p:cNvSpPr/>
          <p:nvPr userDrawn="1"/>
        </p:nvSpPr>
        <p:spPr>
          <a:xfrm>
            <a:off x="11808686" y="11182471"/>
            <a:ext cx="763200" cy="2533529"/>
          </a:xfrm>
          <a:prstGeom prst="rect">
            <a:avLst/>
          </a:prstGeom>
          <a:solidFill>
            <a:srgbClr val="E9F4FA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08CB0CE-339B-0A40-9776-EB1D5B38C2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2BC47C-AA88-ABDA-F173-D72FFC19F11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09035" y="10802400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853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6 Interactie Tussenblad Licht Blauw">
    <p:bg>
      <p:bgPr>
        <a:solidFill>
          <a:srgbClr val="E9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6409286-E4AB-AB41-9C8D-E6F3AFEFDB95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Interactie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01132E7E-094D-CB4D-B255-37D2C5B3D2D9}"/>
              </a:ext>
            </a:extLst>
          </p:cNvPr>
          <p:cNvSpPr/>
          <p:nvPr userDrawn="1"/>
        </p:nvSpPr>
        <p:spPr>
          <a:xfrm>
            <a:off x="11808686" y="11188297"/>
            <a:ext cx="763200" cy="2527704"/>
          </a:xfrm>
          <a:prstGeom prst="rect">
            <a:avLst/>
          </a:prstGeom>
          <a:solidFill>
            <a:srgbClr val="8FCAE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A3BDA2F-D6E4-4C4C-A90B-DA8DCACC8C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934C61-9F38-ABD1-CB3F-FA0A4B94E47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08686" y="10802400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9932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7 Interactie Beeld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636F92F-B88A-4976-9DCD-56BF05853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91DB42A-2CB8-B947-AFD9-ACC196BD57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B1853925-C84F-C34E-98FE-09DCB4FA0512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88DBA1-A5D9-5ACA-B961-CA5332B2CCE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619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8 Interactie visual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8EC5FF76-04FD-B440-A85F-2F11C9B615EF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8FCA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D1148763-D20F-124E-85D9-BE7FD297FA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62237AD-1FFD-5E4B-998A-EA7C4309F1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ABEA7896-8FD7-1C49-B964-399CAF33A37A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2D095-4192-6303-94C0-5A7FA46A45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9373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9 Interactie Beeld voorbeeld –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E38F03C-4AC6-E647-BD35-3AF822BCC4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7" y="4980"/>
            <a:ext cx="12183145" cy="13706039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62237AD-1FFD-5E4B-998A-EA7C4309F13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ABEA7896-8FD7-1C49-B964-399CAF33A37A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D28E37-0960-8767-FE5D-2F0BCC550E2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8193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0 Interactie Illustratie -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E9F4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EEFDCA7-E988-A94C-9779-1A39DDF4262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FDD3A463-C2D8-EE43-83F5-7F9607FD6FBE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C67AE91F-035B-2547-9EB3-8B00F9CA602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5538" y="3232150"/>
            <a:ext cx="6858000" cy="7251700"/>
          </a:xfrm>
          <a:prstGeom prst="rect">
            <a:avLst/>
          </a:prstGeom>
        </p:spPr>
      </p:pic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6580C052-5B72-4748-B6E2-041B2156AD8C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8415DBEF-7F37-D843-8AA6-ABC020B50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5991F1C1-DA65-534B-B988-E8D67D69AE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ABD150-D04F-DFA6-317B-8B4D9663356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149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1 Interactie Twee kolommen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10005046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10070701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7" y="3726000"/>
            <a:ext cx="10115308" cy="8702675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A954BB3E-ADCE-A741-83C0-46CE52CC50B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55957BE6-15DD-E74F-94EE-159CD092F6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9E233DF-287A-024B-A85C-C41538AA28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A5A92C8-8A4B-BD4D-A5B8-436E777477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20" name="Tekstvak 19">
            <a:extLst>
              <a:ext uri="{FF2B5EF4-FFF2-40B4-BE49-F238E27FC236}">
                <a16:creationId xmlns:a16="http://schemas.microsoft.com/office/drawing/2014/main" id="{73107F2F-A040-174E-AE46-7329E75D0535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188D71-13D2-FF7D-F6E9-E053B956C6F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587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2 Interactie Tekst over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21710640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6" y="3726000"/>
            <a:ext cx="21710641" cy="8702675"/>
          </a:xfrm>
        </p:spPr>
        <p:txBody>
          <a:bodyPr numCol="2" spcCol="108000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0FDB197-D03D-AD44-A2C4-557D0E90791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AF04D7D7-7C61-BB4A-9CF3-21B055CE5D3B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FB897-5BD6-8052-D1A9-9AF3F1797BA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3532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3 Interactie Tabel of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755" y="1725278"/>
            <a:ext cx="21689664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8FCAE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7BF9B7D8-7E90-244C-8B2F-C2B69B36DED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348756" y="3714749"/>
            <a:ext cx="21689664" cy="8640425"/>
          </a:xfrm>
        </p:spPr>
        <p:txBody>
          <a:bodyPr/>
          <a:lstStyle/>
          <a:p>
            <a:endParaRPr lang="nl-NL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A0DF43E-B0BE-9A42-879A-A2A8580822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E4CEE5E5-8D79-944F-940E-309557C1ED91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15BC85-E8DB-CF16-57AB-9CCF1F95A37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36080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4 Interactie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E97658EF-1099-4CB2-8E8E-A889FB17C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7" name="Tijdelijke aanduiding voor afbeelding 3">
            <a:extLst>
              <a:ext uri="{FF2B5EF4-FFF2-40B4-BE49-F238E27FC236}">
                <a16:creationId xmlns:a16="http://schemas.microsoft.com/office/drawing/2014/main" id="{1285364B-54E1-FE4C-AC63-24684CF4CA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7123"/>
            <a:ext cx="24387175" cy="11788877"/>
          </a:xfrm>
        </p:spPr>
        <p:txBody>
          <a:bodyPr/>
          <a:lstStyle/>
          <a:p>
            <a:endParaRPr lang="nl-NL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03D827-48F0-A94C-AB66-F56599EEDD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20812" y="464159"/>
            <a:ext cx="8071200" cy="964483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D3A7231C-D7CA-264C-B144-0171F7CF1251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Interactie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B6EA8E-B365-6044-39B7-118C87D2115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2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956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 Gegevensuitwisseling Kernboodsch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FFB6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4393D92E-8B5A-784A-A7AC-AA2BE38CAAAD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632619"/>
            <a:ext cx="10115308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90A95DE3-3C57-6E49-AFED-CFAB31FBD32E}"/>
              </a:ext>
            </a:extLst>
          </p:cNvPr>
          <p:cNvSpPr txBox="1"/>
          <p:nvPr userDrawn="1"/>
        </p:nvSpPr>
        <p:spPr>
          <a:xfrm>
            <a:off x="12933600" y="3449285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Gegevensuitwisseling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D777F8B9-B701-284F-A9D3-5017B023626C}"/>
              </a:ext>
            </a:extLst>
          </p:cNvPr>
          <p:cNvSpPr txBox="1"/>
          <p:nvPr userDrawn="1"/>
        </p:nvSpPr>
        <p:spPr>
          <a:xfrm>
            <a:off x="12920598" y="5062970"/>
            <a:ext cx="10128310" cy="48308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Uw gegevens kunt u veilig, betrouwbaar </a:t>
            </a:r>
          </a:p>
          <a:p>
            <a:pPr eaLnBrk="0" hangingPunct="0"/>
            <a:r>
              <a:rPr lang="nl-NL" sz="3200" dirty="0"/>
              <a:t>en gestandaardiseerd uitwisselen tussen overheden, burgers en bedrijven.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Logius maakt dit mogelijk als ketenpartner</a:t>
            </a:r>
          </a:p>
          <a:p>
            <a:pPr eaLnBrk="0" hangingPunct="0"/>
            <a:r>
              <a:rPr lang="nl-NL" sz="3200" dirty="0"/>
              <a:t>voor de digitale overheid.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Daarbij bieden we ook oplossingen om de gegevens in de basis- registraties op orde te houden en uit te wisselen.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5B63A1C5-00C2-EB4E-B6FD-2D06F46235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21" name="Tekstvak 20">
            <a:extLst>
              <a:ext uri="{FF2B5EF4-FFF2-40B4-BE49-F238E27FC236}">
                <a16:creationId xmlns:a16="http://schemas.microsoft.com/office/drawing/2014/main" id="{AEFB0476-4528-BA4E-9CF4-E4746C83EEB1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EFA5C0-6249-5A13-86E7-D0AAB48D276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0549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2 Gegevensuitwisseling Kernboodschap met illustr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FD1B5F0B-AF99-344E-9BC1-36225B716C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3D3CA3F4-5266-4741-A1FF-32EC6B95A310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3B995C27-E3F3-9D46-BC04-0C19AD9AB7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843" y="2559050"/>
            <a:ext cx="8089900" cy="859790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0A4257-76D4-7143-8527-6AB45B59ABCE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632619"/>
            <a:ext cx="10115308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E2320514-46F7-5C43-ACEF-8FBD3BCCEEC4}"/>
              </a:ext>
            </a:extLst>
          </p:cNvPr>
          <p:cNvSpPr txBox="1"/>
          <p:nvPr userDrawn="1"/>
        </p:nvSpPr>
        <p:spPr>
          <a:xfrm>
            <a:off x="12933600" y="3449285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Gegevensuitwisseling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BF3AADF8-0E7E-F049-AD29-B528325BAC8E}"/>
              </a:ext>
            </a:extLst>
          </p:cNvPr>
          <p:cNvSpPr txBox="1"/>
          <p:nvPr userDrawn="1"/>
        </p:nvSpPr>
        <p:spPr>
          <a:xfrm>
            <a:off x="12920598" y="5062970"/>
            <a:ext cx="10128310" cy="48308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Uw gegevens kunt u veilig, betrouwbaar </a:t>
            </a:r>
          </a:p>
          <a:p>
            <a:pPr eaLnBrk="0" hangingPunct="0"/>
            <a:r>
              <a:rPr lang="nl-NL" sz="3200" dirty="0"/>
              <a:t>en gestandaardiseerd uitwisselen tussen overheden, burgers en bedrijven.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Logius maakt dit mogelijk als ketenpartner</a:t>
            </a:r>
          </a:p>
          <a:p>
            <a:pPr eaLnBrk="0" hangingPunct="0"/>
            <a:r>
              <a:rPr lang="nl-NL" sz="3200" dirty="0"/>
              <a:t>voor de digitale overheid.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Daarbij bieden we ook oplossingen om de gegevens in de basis- registraties op orde te houden en uit te wisselen.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476A92-6FBF-8B9B-27ED-1DC8D028250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7149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3 Gegevensuitwisseling Tussenblad">
    <p:bg>
      <p:bgPr>
        <a:solidFill>
          <a:srgbClr val="FFB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>
            <a:extLst>
              <a:ext uri="{FF2B5EF4-FFF2-40B4-BE49-F238E27FC236}">
                <a16:creationId xmlns:a16="http://schemas.microsoft.com/office/drawing/2014/main" id="{3EF6F24E-62E5-C843-A849-1EC943E4C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1772" y="4276521"/>
            <a:ext cx="763200" cy="9439479"/>
          </a:xfrm>
          <a:prstGeom prst="rect">
            <a:avLst/>
          </a:prstGeom>
        </p:spPr>
      </p:pic>
      <p:pic>
        <p:nvPicPr>
          <p:cNvPr id="23" name="Logo">
            <a:extLst>
              <a:ext uri="{FF2B5EF4-FFF2-40B4-BE49-F238E27FC236}">
                <a16:creationId xmlns:a16="http://schemas.microsoft.com/office/drawing/2014/main" id="{7E6F2157-E24D-D946-BAAF-5D051AFAF5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kstvak 4">
            <a:extLst>
              <a:ext uri="{FF2B5EF4-FFF2-40B4-BE49-F238E27FC236}">
                <a16:creationId xmlns:a16="http://schemas.microsoft.com/office/drawing/2014/main" id="{1A3A5AC5-777F-FF43-91CA-0AD52F132250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tx1"/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71E140-DB11-0642-A23F-68EB8D19B9DE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4A9591-FEF9-7A41-9C49-A97E608BF217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FFBB216-F44A-8140-AC57-7CEDEA0A081E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872D1F-FE40-6146-91C8-80D5B680D5F2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E68C964-8D94-6245-A0C5-884F65E650FC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5607812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4 Gegevensuitwisseling Tussenblad met tekst">
    <p:bg>
      <p:bgPr>
        <a:solidFill>
          <a:srgbClr val="FFB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7CFF2726-F60B-0C4F-B20D-21B866795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5AF8086-D262-5648-A91E-50156F108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89010" y="4404188"/>
            <a:ext cx="9637381" cy="387032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610F7E9C-FF04-D549-8ED9-C268EEDD8DF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11772" y="4276521"/>
            <a:ext cx="763200" cy="9439479"/>
          </a:xfrm>
          <a:prstGeom prst="rect">
            <a:avLst/>
          </a:prstGeom>
        </p:spPr>
      </p:pic>
      <p:sp>
        <p:nvSpPr>
          <p:cNvPr id="20" name="Tekstvak 4">
            <a:extLst>
              <a:ext uri="{FF2B5EF4-FFF2-40B4-BE49-F238E27FC236}">
                <a16:creationId xmlns:a16="http://schemas.microsoft.com/office/drawing/2014/main" id="{46402EEF-90C8-0045-84BE-30D586F0B7C8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tx1"/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sp>
        <p:nvSpPr>
          <p:cNvPr id="21" name="Oval 32">
            <a:extLst>
              <a:ext uri="{FF2B5EF4-FFF2-40B4-BE49-F238E27FC236}">
                <a16:creationId xmlns:a16="http://schemas.microsoft.com/office/drawing/2014/main" id="{E86356B6-54B1-C248-BB45-4F43E1D30313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2" name="Oval 33">
            <a:extLst>
              <a:ext uri="{FF2B5EF4-FFF2-40B4-BE49-F238E27FC236}">
                <a16:creationId xmlns:a16="http://schemas.microsoft.com/office/drawing/2014/main" id="{3E4006F2-4B32-B041-8F90-C510F8CF8960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670AE5AE-B9CB-1A47-AEE7-06A303FE4BC2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4" name="Oval 35">
            <a:extLst>
              <a:ext uri="{FF2B5EF4-FFF2-40B4-BE49-F238E27FC236}">
                <a16:creationId xmlns:a16="http://schemas.microsoft.com/office/drawing/2014/main" id="{264A2C10-380D-DB40-9E47-09A86BAA7AC1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5" name="Oval 36">
            <a:extLst>
              <a:ext uri="{FF2B5EF4-FFF2-40B4-BE49-F238E27FC236}">
                <a16:creationId xmlns:a16="http://schemas.microsoft.com/office/drawing/2014/main" id="{8B572D24-E5EF-5845-9F8F-11FF44E8A2FC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8683081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5 Gegevensuitwisseling Tussenblad Geel">
    <p:bg>
      <p:bgPr>
        <a:solidFill>
          <a:srgbClr val="FFB6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5CA31EA-DB7A-4D23-BFD2-CB6577085181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Gegevensuitwisseling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0811765C-CAE6-B14F-A579-DA3EA0A88197}"/>
              </a:ext>
            </a:extLst>
          </p:cNvPr>
          <p:cNvSpPr/>
          <p:nvPr userDrawn="1"/>
        </p:nvSpPr>
        <p:spPr>
          <a:xfrm>
            <a:off x="11811987" y="11182471"/>
            <a:ext cx="763200" cy="2533529"/>
          </a:xfrm>
          <a:prstGeom prst="rect">
            <a:avLst/>
          </a:prstGeom>
          <a:solidFill>
            <a:srgbClr val="FFF0D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557B8035-76B1-CA4D-B3AB-4D06C14516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90547F-B7F3-7861-2E06-534BE0EAA6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55099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6 Gegevensuitwisseling Tussenblad Licht Geel">
    <p:bg>
      <p:bgPr>
        <a:solidFill>
          <a:srgbClr val="FFF0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6409286-E4AB-AB41-9C8D-E6F3AFEFDB95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Gegevensuitwisseling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01132E7E-094D-CB4D-B255-37D2C5B3D2D9}"/>
              </a:ext>
            </a:extLst>
          </p:cNvPr>
          <p:cNvSpPr/>
          <p:nvPr userDrawn="1"/>
        </p:nvSpPr>
        <p:spPr>
          <a:xfrm>
            <a:off x="11811987" y="11188297"/>
            <a:ext cx="763200" cy="2527704"/>
          </a:xfrm>
          <a:prstGeom prst="rect">
            <a:avLst/>
          </a:prstGeom>
          <a:solidFill>
            <a:srgbClr val="FFB612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983C359-49D9-B24F-9E95-1C837B4A1D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E050EA-EC28-54DA-C422-E90C2C150D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9221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7 Gegevensuitwisseling Beeld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636F92F-B88A-4976-9DCD-56BF05853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778A6ED-891E-6748-9305-2360E4C761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A4C50735-2F67-4241-BFC7-B27029EBF27D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FA1072-D0DB-A208-6F12-7290EF808F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647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8 Gegevensuitwisseling visual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3">
            <a:extLst>
              <a:ext uri="{FF2B5EF4-FFF2-40B4-BE49-F238E27FC236}">
                <a16:creationId xmlns:a16="http://schemas.microsoft.com/office/drawing/2014/main" id="{972FB7BE-2DE8-3349-999B-37C0DE0CB78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FFB6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BEB366B-00BE-BC49-9865-4395838CE1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F014F6-5FC2-8C45-8E69-82ADD3FCDF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1AA90275-7F71-4B4E-B524-389EFFFB32B5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7277B6-9E1D-A446-1561-4F8E6A06DB2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61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9 Gegevensuitwisseling Beeld voorbeeld –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Afbeelding 7">
            <a:extLst>
              <a:ext uri="{FF2B5EF4-FFF2-40B4-BE49-F238E27FC236}">
                <a16:creationId xmlns:a16="http://schemas.microsoft.com/office/drawing/2014/main" id="{E4E0CEE1-A72B-0041-B6E0-16EEA84CB9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7" y="4980"/>
            <a:ext cx="12183145" cy="13706039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F014F6-5FC2-8C45-8E69-82ADD3FCDFC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1AA90275-7F71-4B4E-B524-389EFFFB32B5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317FA4-13E6-5CEA-1047-108F9B62B16D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58097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0 Gegevensuitwisseling Illustratie -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6580C052-5B72-4748-B6E2-041B2156AD8C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8415DBEF-7F37-D843-8AA6-ABC020B50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5991F1C1-DA65-534B-B988-E8D67D69AE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FD1B5F0B-AF99-344E-9BC1-36225B716C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3D3CA3F4-5266-4741-A1FF-32EC6B95A310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3B995C27-E3F3-9D46-BC04-0C19AD9AB78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843" y="2559050"/>
            <a:ext cx="8089900" cy="85979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B70FBC9-16EF-32B1-F08F-979CE78B3D5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6427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1 Gegevensuitwisseling Twee kolommen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10005046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10070701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7" y="3726000"/>
            <a:ext cx="10115308" cy="8702675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A954BB3E-ADCE-A741-83C0-46CE52CC50B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55957BE6-15DD-E74F-94EE-159CD092F6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9E233DF-287A-024B-A85C-C41538AA28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671A4B4-3897-294E-A057-BCD726E6698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21" name="Tekstvak 20">
            <a:extLst>
              <a:ext uri="{FF2B5EF4-FFF2-40B4-BE49-F238E27FC236}">
                <a16:creationId xmlns:a16="http://schemas.microsoft.com/office/drawing/2014/main" id="{919522DE-FB45-1A41-9FB7-3E18D255AC59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38F861-32A6-C5E3-2549-87F4A214853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6551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2 Gegevensuitwisseling Tekst over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21710640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6" y="3726000"/>
            <a:ext cx="21710641" cy="8702675"/>
          </a:xfrm>
        </p:spPr>
        <p:txBody>
          <a:bodyPr numCol="2" spcCol="108000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9DB2E849-6A74-C243-A9E7-C5E1A2AEC79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4E73B636-632C-274D-BDE2-C30C42A7919F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CD1F6-F5D5-56A1-C789-CDD0BA64289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00419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3 Gegevensuitwisseling Tabel of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755" y="1725278"/>
            <a:ext cx="21689664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FFB61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7BF9B7D8-7E90-244C-8B2F-C2B69B36DED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348756" y="3714749"/>
            <a:ext cx="21689664" cy="8640425"/>
          </a:xfrm>
        </p:spPr>
        <p:txBody>
          <a:bodyPr/>
          <a:lstStyle/>
          <a:p>
            <a:endParaRPr lang="nl-NL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988F12A-2204-F744-B9A6-8A025DC888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44858A0C-B41B-A24E-A5B2-8B52ABBC49AF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924C5-CFA3-48BC-EFF0-7A4CB4377D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443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4 Gegevensuitwisseling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E97658EF-1099-4CB2-8E8E-A889FB17C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7" name="Tijdelijke aanduiding voor afbeelding 3">
            <a:extLst>
              <a:ext uri="{FF2B5EF4-FFF2-40B4-BE49-F238E27FC236}">
                <a16:creationId xmlns:a16="http://schemas.microsoft.com/office/drawing/2014/main" id="{1285364B-54E1-FE4C-AC63-24684CF4CA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7123"/>
            <a:ext cx="24387175" cy="11788877"/>
          </a:xfrm>
        </p:spPr>
        <p:txBody>
          <a:bodyPr/>
          <a:lstStyle/>
          <a:p>
            <a:endParaRPr lang="nl-N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C59FF56-0C36-9B43-B1DB-4ADFBFC579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9F539E75-7908-2D43-9197-27EECA06FC0E}"/>
              </a:ext>
            </a:extLst>
          </p:cNvPr>
          <p:cNvSpPr txBox="1"/>
          <p:nvPr userDrawn="1"/>
        </p:nvSpPr>
        <p:spPr>
          <a:xfrm>
            <a:off x="17701247" y="566963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Gegevensuitwisseling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79307-7907-4DF9-0243-F1FCFA8456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1"/>
            <a:ext cx="968399" cy="96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1759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 Infrastructuur Kernboodsch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4393D92E-8B5A-784A-A7AC-AA2BE38CAAAD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888651"/>
            <a:ext cx="10115308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90A95DE3-3C57-6E49-AFED-CFAB31FBD32E}"/>
              </a:ext>
            </a:extLst>
          </p:cNvPr>
          <p:cNvSpPr txBox="1"/>
          <p:nvPr userDrawn="1"/>
        </p:nvSpPr>
        <p:spPr>
          <a:xfrm>
            <a:off x="12933600" y="3705317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Infrastructuur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D777F8B9-B701-284F-A9D3-5017B023626C}"/>
              </a:ext>
            </a:extLst>
          </p:cNvPr>
          <p:cNvSpPr txBox="1"/>
          <p:nvPr userDrawn="1"/>
        </p:nvSpPr>
        <p:spPr>
          <a:xfrm>
            <a:off x="12920598" y="5319002"/>
            <a:ext cx="10128310" cy="43187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Uw digitale diensten kunt u snel en schaal-</a:t>
            </a:r>
          </a:p>
          <a:p>
            <a:pPr eaLnBrk="0" hangingPunct="0"/>
            <a:r>
              <a:rPr lang="nl-NL" sz="3200" dirty="0"/>
              <a:t>baar opbouwen met ons IT-fundament. 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En u voldoet altijd aan de laatste </a:t>
            </a:r>
            <a:r>
              <a:rPr lang="nl-NL" sz="3200" dirty="0" err="1"/>
              <a:t>veiligheids-eisen</a:t>
            </a:r>
            <a:r>
              <a:rPr lang="nl-NL" sz="3200" dirty="0"/>
              <a:t>, standaarden en regelgeving.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Ook zorgt Logius voor betrouwbare verbindingen voor het transport van uw</a:t>
            </a:r>
          </a:p>
          <a:p>
            <a:pPr eaLnBrk="0" hangingPunct="0"/>
            <a:r>
              <a:rPr lang="nl-NL" sz="3200" dirty="0"/>
              <a:t>data naar burgers, bedrijven en overheden.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E9FA737-3426-944C-B5DD-391FE066FE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31CE16CC-ED68-0047-8021-CE5D1C9CDB0E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391AE-242A-8689-CAEA-D5D9BF84C73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1108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 Infrastructuur Kernboodschap met illustr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E4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30E8F5A-9A61-C347-898F-FD61B118AF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366E4ECE-4FD1-8C4C-B4B0-2341500F9C43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AB23A34E-823F-5D42-A263-A0F45062863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493" y="2774950"/>
            <a:ext cx="5816600" cy="8166100"/>
          </a:xfrm>
          <a:prstGeom prst="rect">
            <a:avLst/>
          </a:prstGeom>
        </p:spPr>
      </p:pic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id="{F6F31CDF-5980-9C45-AF53-3FD68D11B691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888651"/>
            <a:ext cx="10115308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5BE72C59-FB74-3D46-A781-B6DFB3946847}"/>
              </a:ext>
            </a:extLst>
          </p:cNvPr>
          <p:cNvSpPr txBox="1"/>
          <p:nvPr userDrawn="1"/>
        </p:nvSpPr>
        <p:spPr>
          <a:xfrm>
            <a:off x="12933600" y="3705317"/>
            <a:ext cx="10104820" cy="902918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Infrastructuur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F5AF03DA-3B7C-CE47-9FA4-0C05373C482C}"/>
              </a:ext>
            </a:extLst>
          </p:cNvPr>
          <p:cNvSpPr txBox="1"/>
          <p:nvPr userDrawn="1"/>
        </p:nvSpPr>
        <p:spPr>
          <a:xfrm>
            <a:off x="12920598" y="5319002"/>
            <a:ext cx="10128310" cy="43187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Uw digitale diensten kunt u snel en schaal-</a:t>
            </a:r>
          </a:p>
          <a:p>
            <a:pPr eaLnBrk="0" hangingPunct="0"/>
            <a:r>
              <a:rPr lang="nl-NL" sz="3200" dirty="0"/>
              <a:t>baar opbouwen met ons IT-fundament. 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En u voldoet altijd aan de laatste </a:t>
            </a:r>
            <a:r>
              <a:rPr lang="nl-NL" sz="3200" dirty="0" err="1"/>
              <a:t>veiligheids-eisen</a:t>
            </a:r>
            <a:r>
              <a:rPr lang="nl-NL" sz="3200" dirty="0"/>
              <a:t>, standaarden en regelgeving.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Ook zorgt Logius voor betrouwbare verbindingen voor het transport van uw</a:t>
            </a:r>
          </a:p>
          <a:p>
            <a:pPr eaLnBrk="0" hangingPunct="0"/>
            <a:r>
              <a:rPr lang="nl-NL" sz="3200" dirty="0"/>
              <a:t>data naar burgers, bedrijven en overheden.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914299-AFBE-4C25-71E6-49A76E866CE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06363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 Infrastructuur Tussenblad">
    <p:bg>
      <p:bgPr>
        <a:solidFill>
          <a:srgbClr val="76D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5">
            <a:extLst>
              <a:ext uri="{FF2B5EF4-FFF2-40B4-BE49-F238E27FC236}">
                <a16:creationId xmlns:a16="http://schemas.microsoft.com/office/drawing/2014/main" id="{738F7740-F8B1-9D4B-9115-1CD65219D3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1987" y="4292600"/>
            <a:ext cx="763200" cy="9439479"/>
          </a:xfrm>
          <a:prstGeom prst="rect">
            <a:avLst/>
          </a:prstGeom>
        </p:spPr>
      </p:pic>
      <p:pic>
        <p:nvPicPr>
          <p:cNvPr id="23" name="Logo">
            <a:extLst>
              <a:ext uri="{FF2B5EF4-FFF2-40B4-BE49-F238E27FC236}">
                <a16:creationId xmlns:a16="http://schemas.microsoft.com/office/drawing/2014/main" id="{7E6F2157-E24D-D946-BAAF-5D051AFAF5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kstvak 4">
            <a:extLst>
              <a:ext uri="{FF2B5EF4-FFF2-40B4-BE49-F238E27FC236}">
                <a16:creationId xmlns:a16="http://schemas.microsoft.com/office/drawing/2014/main" id="{1A3A5AC5-777F-FF43-91CA-0AD52F132250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tx1"/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71E140-DB11-0642-A23F-68EB8D19B9DE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4A9591-FEF9-7A41-9C49-A97E608BF217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FFBB216-F44A-8140-AC57-7CEDEA0A081E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872D1F-FE40-6146-91C8-80D5B680D5F2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E68C964-8D94-6245-A0C5-884F65E650FC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1793450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4 Infrastructuur Tussenblad met tekst">
    <p:bg>
      <p:bgPr>
        <a:solidFill>
          <a:srgbClr val="76D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7CFF2726-F60B-0C4F-B20D-21B866795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5AF8086-D262-5648-A91E-50156F108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89010" y="4404188"/>
            <a:ext cx="9637381" cy="387032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1" name="Picture 15">
            <a:extLst>
              <a:ext uri="{FF2B5EF4-FFF2-40B4-BE49-F238E27FC236}">
                <a16:creationId xmlns:a16="http://schemas.microsoft.com/office/drawing/2014/main" id="{7AF040C1-1DED-ED43-A633-83D91253C51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11987" y="4292600"/>
            <a:ext cx="763200" cy="9439479"/>
          </a:xfrm>
          <a:prstGeom prst="rect">
            <a:avLst/>
          </a:prstGeom>
        </p:spPr>
      </p:pic>
      <p:sp>
        <p:nvSpPr>
          <p:cNvPr id="13" name="Tekstvak 4">
            <a:extLst>
              <a:ext uri="{FF2B5EF4-FFF2-40B4-BE49-F238E27FC236}">
                <a16:creationId xmlns:a16="http://schemas.microsoft.com/office/drawing/2014/main" id="{BC259F1C-E3C2-EC46-B413-D3F94C370A1A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tx1"/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Regie op stelsels</a:t>
            </a:r>
            <a:br>
              <a:rPr lang="nl-NL" sz="4100" dirty="0">
                <a:solidFill>
                  <a:schemeClr val="bg1">
                    <a:alpha val="50000"/>
                  </a:schemeClr>
                </a:solidFill>
              </a:rPr>
            </a:b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en standaarden</a:t>
            </a:r>
          </a:p>
        </p:txBody>
      </p:sp>
      <p:sp>
        <p:nvSpPr>
          <p:cNvPr id="14" name="Oval 32">
            <a:extLst>
              <a:ext uri="{FF2B5EF4-FFF2-40B4-BE49-F238E27FC236}">
                <a16:creationId xmlns:a16="http://schemas.microsoft.com/office/drawing/2014/main" id="{1D721FE9-F24B-4D4A-AC5F-EB4DDF2527DB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5" name="Oval 33">
            <a:extLst>
              <a:ext uri="{FF2B5EF4-FFF2-40B4-BE49-F238E27FC236}">
                <a16:creationId xmlns:a16="http://schemas.microsoft.com/office/drawing/2014/main" id="{94ECE607-DDA9-3A41-BE7D-F056EAF49323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807B1A37-37B2-0C47-9EC0-0EEA4A6E7794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7" name="Oval 35">
            <a:extLst>
              <a:ext uri="{FF2B5EF4-FFF2-40B4-BE49-F238E27FC236}">
                <a16:creationId xmlns:a16="http://schemas.microsoft.com/office/drawing/2014/main" id="{E903D0F7-91CB-0C4D-8256-A09768662E4C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18" name="Oval 36">
            <a:extLst>
              <a:ext uri="{FF2B5EF4-FFF2-40B4-BE49-F238E27FC236}">
                <a16:creationId xmlns:a16="http://schemas.microsoft.com/office/drawing/2014/main" id="{C0B59731-B5B7-0E4D-9C38-284F2359C9AE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8172478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5 Infrastructuur Tussenblad Mint">
    <p:bg>
      <p:bgPr>
        <a:solidFill>
          <a:srgbClr val="76D2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5CA31EA-DB7A-4D23-BFD2-CB6577085181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Infrastructuur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0811765C-CAE6-B14F-A579-DA3EA0A88197}"/>
              </a:ext>
            </a:extLst>
          </p:cNvPr>
          <p:cNvSpPr/>
          <p:nvPr userDrawn="1"/>
        </p:nvSpPr>
        <p:spPr>
          <a:xfrm>
            <a:off x="11811987" y="11182471"/>
            <a:ext cx="763200" cy="2533529"/>
          </a:xfrm>
          <a:prstGeom prst="rect">
            <a:avLst/>
          </a:prstGeom>
          <a:solidFill>
            <a:srgbClr val="E4F6F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216904F4-0A6E-744D-836B-F6FF112AC14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F7B14F-6C21-6D90-679C-3B7123B5E6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63468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6 Infrastructuur Tussenblad Licht Mint">
    <p:bg>
      <p:bgPr>
        <a:solidFill>
          <a:srgbClr val="E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6409286-E4AB-AB41-9C8D-E6F3AFEFDB95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Infrastructuur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01132E7E-094D-CB4D-B255-37D2C5B3D2D9}"/>
              </a:ext>
            </a:extLst>
          </p:cNvPr>
          <p:cNvSpPr/>
          <p:nvPr userDrawn="1"/>
        </p:nvSpPr>
        <p:spPr>
          <a:xfrm>
            <a:off x="11811987" y="11188297"/>
            <a:ext cx="763200" cy="2527704"/>
          </a:xfrm>
          <a:prstGeom prst="rect">
            <a:avLst/>
          </a:prstGeom>
          <a:solidFill>
            <a:srgbClr val="76D2B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C759438-D9C5-ED48-9413-3C0BB6CF30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8" y="10802400"/>
            <a:ext cx="763200" cy="76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309725-467D-0A94-18FD-EFFEFADD3A5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277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7 Infrastructuur Beeld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636F92F-B88A-4976-9DCD-56BF05853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51064273-5755-5546-8A5F-6A56EDDEBF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980CA198-0DD6-874E-8D2C-96F862C7647F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A3BC20-D15D-3FBF-0E49-D486E79B518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6309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8 Infrastructuur visual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7654368C-9C2F-E443-80B0-628B61D66898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D395554-D989-E94F-BA0A-EF9DCA4216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9F1EA6A-09F2-E044-AD57-20A0B25797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D68DB326-0EC7-304C-B9DD-043262C2AF51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3F0681-CA8E-BA09-19F7-8AB9E3604A4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1652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9 Infrastructuur Beeld voorbeeld –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D033D27-72C7-C044-A05B-DB425F4DB9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"/>
            <a:ext cx="12192000" cy="13716001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9F1EA6A-09F2-E044-AD57-20A0B25797C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D68DB326-0EC7-304C-B9DD-043262C2AF51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BDAE99-1893-3338-7E08-7A9968FC5D8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941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0 Infrastructuur Illustratie -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E4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6580C052-5B72-4748-B6E2-041B2156AD8C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8415DBEF-7F37-D843-8AA6-ABC020B50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5991F1C1-DA65-534B-B988-E8D67D69AE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30E8F5A-9A61-C347-898F-FD61B118AF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3" name="Tekstvak 12">
            <a:extLst>
              <a:ext uri="{FF2B5EF4-FFF2-40B4-BE49-F238E27FC236}">
                <a16:creationId xmlns:a16="http://schemas.microsoft.com/office/drawing/2014/main" id="{366E4ECE-4FD1-8C4C-B4B0-2341500F9C43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AB23A34E-823F-5D42-A263-A0F45062863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493" y="2774950"/>
            <a:ext cx="5816600" cy="81661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57D339-F20F-3A91-0622-533233397E5E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4414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1 Infrastructuur Twee kolommen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10005046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10070701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7" y="3726000"/>
            <a:ext cx="10115308" cy="8702675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A954BB3E-ADCE-A741-83C0-46CE52CC50B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55957BE6-15DD-E74F-94EE-159CD092F6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9E233DF-287A-024B-A85C-C41538AA28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211FEA-EF63-9D42-8852-F8AD7AF518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20" name="Tekstvak 19">
            <a:extLst>
              <a:ext uri="{FF2B5EF4-FFF2-40B4-BE49-F238E27FC236}">
                <a16:creationId xmlns:a16="http://schemas.microsoft.com/office/drawing/2014/main" id="{9DF0A9CE-B720-694A-A00B-D9A08DB389A6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B8CC1-25ED-2EA7-104E-F223EA214DB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06662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2 Infrastructuur Tekst over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21710640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6" y="3726000"/>
            <a:ext cx="21710641" cy="8702675"/>
          </a:xfrm>
        </p:spPr>
        <p:txBody>
          <a:bodyPr numCol="2" spcCol="108000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37FC7A7-6A47-6E47-98E1-32A3B96A5B0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5" name="Tekstvak 14">
            <a:extLst>
              <a:ext uri="{FF2B5EF4-FFF2-40B4-BE49-F238E27FC236}">
                <a16:creationId xmlns:a16="http://schemas.microsoft.com/office/drawing/2014/main" id="{6420BD73-DFB1-1D42-9317-C4847FA23ECB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DC69EA-0DD9-6F00-3604-7D987B6D9AD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9644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3 Infrastructuur Tabel of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755" y="1725278"/>
            <a:ext cx="21689664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76D2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7BF9B7D8-7E90-244C-8B2F-C2B69B36DED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348756" y="3714749"/>
            <a:ext cx="21689664" cy="8640425"/>
          </a:xfrm>
        </p:spPr>
        <p:txBody>
          <a:bodyPr/>
          <a:lstStyle/>
          <a:p>
            <a:endParaRPr lang="nl-NL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6707BA4-13D1-CA4E-B145-07FE163246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2" name="Tekstvak 11">
            <a:extLst>
              <a:ext uri="{FF2B5EF4-FFF2-40B4-BE49-F238E27FC236}">
                <a16:creationId xmlns:a16="http://schemas.microsoft.com/office/drawing/2014/main" id="{76D49523-7DEA-A948-B0BC-D9A7A668C423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86FDF2-53F8-854B-C48D-8CAB7012033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68384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4 Infrastructuur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E97658EF-1099-4CB2-8E8E-A889FB17C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7" name="Tijdelijke aanduiding voor afbeelding 3">
            <a:extLst>
              <a:ext uri="{FF2B5EF4-FFF2-40B4-BE49-F238E27FC236}">
                <a16:creationId xmlns:a16="http://schemas.microsoft.com/office/drawing/2014/main" id="{1285364B-54E1-FE4C-AC63-24684CF4CA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7123"/>
            <a:ext cx="24387175" cy="11788877"/>
          </a:xfrm>
        </p:spPr>
        <p:txBody>
          <a:bodyPr/>
          <a:lstStyle/>
          <a:p>
            <a:endParaRPr lang="nl-NL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4F86EB0-313B-4542-A25B-91388DBC7D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9CDD08F-890E-FC4F-AA48-69F5FF9C5599}"/>
              </a:ext>
            </a:extLst>
          </p:cNvPr>
          <p:cNvSpPr txBox="1"/>
          <p:nvPr userDrawn="1"/>
        </p:nvSpPr>
        <p:spPr>
          <a:xfrm>
            <a:off x="17701247" y="586841"/>
            <a:ext cx="6156000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Infrastructuur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9FDBCD-88B7-DD58-83AB-6D248F09D7D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2"/>
            <a:ext cx="968398" cy="9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49048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1 RoSeS Kernboodsch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E79D06-311A-43E8-9993-E38058BC57F1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275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DE29D8C-AB77-490C-84FE-4060D5F0D9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pic>
        <p:nvPicPr>
          <p:cNvPr id="7" name="Logo">
            <a:extLst>
              <a:ext uri="{FF2B5EF4-FFF2-40B4-BE49-F238E27FC236}">
                <a16:creationId xmlns:a16="http://schemas.microsoft.com/office/drawing/2014/main" id="{07AAA810-4A77-0947-8D02-142622F741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1" name="Date Placeholder 4">
            <a:extLst>
              <a:ext uri="{FF2B5EF4-FFF2-40B4-BE49-F238E27FC236}">
                <a16:creationId xmlns:a16="http://schemas.microsoft.com/office/drawing/2014/main" id="{F68BA68E-4D57-024A-9AFC-8381BC73A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7166155" y="12781172"/>
            <a:ext cx="5007129" cy="730250"/>
          </a:xfrm>
        </p:spPr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065620C-CD7B-504F-8F3D-6056BC96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411426" y="12781172"/>
            <a:ext cx="1557752" cy="730250"/>
          </a:xfrm>
        </p:spPr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4393D92E-8B5A-784A-A7AC-AA2BE38CAAAD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760635"/>
            <a:ext cx="10115308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kstvak 25">
            <a:extLst>
              <a:ext uri="{FF2B5EF4-FFF2-40B4-BE49-F238E27FC236}">
                <a16:creationId xmlns:a16="http://schemas.microsoft.com/office/drawing/2014/main" id="{90A95DE3-3C57-6E49-AFED-CFAB31FBD32E}"/>
              </a:ext>
            </a:extLst>
          </p:cNvPr>
          <p:cNvSpPr txBox="1"/>
          <p:nvPr userDrawn="1"/>
        </p:nvSpPr>
        <p:spPr>
          <a:xfrm>
            <a:off x="12933600" y="3053905"/>
            <a:ext cx="10104820" cy="1426314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Regie op stelsels</a:t>
            </a:r>
            <a:br>
              <a:rPr lang="nl-NL" sz="4800" b="1" dirty="0">
                <a:solidFill>
                  <a:srgbClr val="39870C"/>
                </a:solidFill>
              </a:rPr>
            </a:br>
            <a:r>
              <a:rPr lang="nl-NL" sz="4800" b="1" dirty="0">
                <a:solidFill>
                  <a:srgbClr val="39870C"/>
                </a:solidFill>
              </a:rPr>
              <a:t>en standaarden</a:t>
            </a:r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D777F8B9-B701-284F-A9D3-5017B023626C}"/>
              </a:ext>
            </a:extLst>
          </p:cNvPr>
          <p:cNvSpPr txBox="1"/>
          <p:nvPr userDrawn="1"/>
        </p:nvSpPr>
        <p:spPr>
          <a:xfrm>
            <a:off x="12920598" y="5190986"/>
            <a:ext cx="10128310" cy="53063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Uw digitale dienstverlening aan burgers en bedrijven is veilig, herkenbaar en makkelijk door het gebruik van uniforme standaarden </a:t>
            </a:r>
          </a:p>
          <a:p>
            <a:pPr eaLnBrk="0" hangingPunct="0"/>
            <a:r>
              <a:rPr lang="nl-NL" sz="3200" dirty="0"/>
              <a:t>en stelsels.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Daarvoor maken we samen </a:t>
            </a:r>
            <a:r>
              <a:rPr lang="nl-NL" sz="3200" dirty="0" err="1"/>
              <a:t>sectoroverstijgende</a:t>
            </a:r>
            <a:r>
              <a:rPr lang="nl-NL" sz="3200" dirty="0"/>
              <a:t> afspraken. 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Logius heeft de regie op het maken, vastleggen en actualiseren van die afspraken en </a:t>
            </a:r>
            <a:r>
              <a:rPr lang="nl-NL" sz="3200" dirty="0" err="1"/>
              <a:t>organi-seert</a:t>
            </a:r>
            <a:r>
              <a:rPr lang="nl-NL" sz="3200" dirty="0"/>
              <a:t> daarvoor publiek-private samenwerking.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EA96997-8B92-6F48-873F-3A06AF33229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B8302727-4227-6248-A67B-3FFF8DB5FE7F}"/>
              </a:ext>
            </a:extLst>
          </p:cNvPr>
          <p:cNvSpPr txBox="1"/>
          <p:nvPr userDrawn="1"/>
        </p:nvSpPr>
        <p:spPr>
          <a:xfrm>
            <a:off x="17701246" y="566963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3A33A2-40EE-10C7-5B54-39C48B2201A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7798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2 RoSeS Kernboodschap met illustra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D4DE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879C09ED-B6E1-B04C-BF25-4A98EE8713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93" y="3086100"/>
            <a:ext cx="7899400" cy="75438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08CCD3B-43A7-E145-B604-E4D538ABEE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21F2EE53-5715-0649-902D-82F79FFC162A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4696CE-4CBE-4D49-9340-E6FFCA48EACB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4760635"/>
            <a:ext cx="10115308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kstvak 12">
            <a:extLst>
              <a:ext uri="{FF2B5EF4-FFF2-40B4-BE49-F238E27FC236}">
                <a16:creationId xmlns:a16="http://schemas.microsoft.com/office/drawing/2014/main" id="{2A424A65-6F52-6641-A692-441B42DFE9C1}"/>
              </a:ext>
            </a:extLst>
          </p:cNvPr>
          <p:cNvSpPr txBox="1"/>
          <p:nvPr userDrawn="1"/>
        </p:nvSpPr>
        <p:spPr>
          <a:xfrm>
            <a:off x="12933600" y="3053905"/>
            <a:ext cx="10104820" cy="1426314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lstStyle/>
          <a:p>
            <a:pPr algn="l"/>
            <a:r>
              <a:rPr lang="nl-NL" sz="4800" b="1" dirty="0">
                <a:solidFill>
                  <a:srgbClr val="39870C"/>
                </a:solidFill>
              </a:rPr>
              <a:t>Regie op stelsels</a:t>
            </a:r>
            <a:br>
              <a:rPr lang="nl-NL" sz="4800" b="1" dirty="0">
                <a:solidFill>
                  <a:srgbClr val="39870C"/>
                </a:solidFill>
              </a:rPr>
            </a:br>
            <a:r>
              <a:rPr lang="nl-NL" sz="4800" b="1" dirty="0">
                <a:solidFill>
                  <a:srgbClr val="39870C"/>
                </a:solidFill>
              </a:rPr>
              <a:t>en standaarden</a:t>
            </a:r>
          </a:p>
        </p:txBody>
      </p:sp>
      <p:sp>
        <p:nvSpPr>
          <p:cNvPr id="17" name="Tekstvak 16">
            <a:extLst>
              <a:ext uri="{FF2B5EF4-FFF2-40B4-BE49-F238E27FC236}">
                <a16:creationId xmlns:a16="http://schemas.microsoft.com/office/drawing/2014/main" id="{C4894F06-827A-FC4F-A4F5-D732CB4C76F5}"/>
              </a:ext>
            </a:extLst>
          </p:cNvPr>
          <p:cNvSpPr txBox="1"/>
          <p:nvPr userDrawn="1"/>
        </p:nvSpPr>
        <p:spPr>
          <a:xfrm>
            <a:off x="12920598" y="5190986"/>
            <a:ext cx="10128310" cy="530631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eaLnBrk="0" hangingPunct="0"/>
            <a:r>
              <a:rPr lang="nl-NL" sz="3200" dirty="0"/>
              <a:t>Uw digitale dienstverlening aan burgers en bedrijven is veilig, herkenbaar en makkelijk door het gebruik van uniforme standaarden </a:t>
            </a:r>
          </a:p>
          <a:p>
            <a:pPr eaLnBrk="0" hangingPunct="0"/>
            <a:r>
              <a:rPr lang="nl-NL" sz="3200" dirty="0"/>
              <a:t>en stelsels.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Daarvoor maken we samen </a:t>
            </a:r>
            <a:r>
              <a:rPr lang="nl-NL" sz="3200" dirty="0" err="1"/>
              <a:t>sectoroverstijgende</a:t>
            </a:r>
            <a:r>
              <a:rPr lang="nl-NL" sz="3200" dirty="0"/>
              <a:t> afspraken. </a:t>
            </a:r>
          </a:p>
          <a:p>
            <a:pPr eaLnBrk="0" hangingPunct="0"/>
            <a:endParaRPr lang="nl-NL" sz="3200" dirty="0"/>
          </a:p>
          <a:p>
            <a:pPr eaLnBrk="0" hangingPunct="0"/>
            <a:r>
              <a:rPr lang="nl-NL" sz="3200" dirty="0"/>
              <a:t>Logius heeft de regie op het maken, vastleggen en actualiseren van die afspraken en </a:t>
            </a:r>
            <a:r>
              <a:rPr lang="nl-NL" sz="3200" dirty="0" err="1"/>
              <a:t>organi-seert</a:t>
            </a:r>
            <a:r>
              <a:rPr lang="nl-NL" sz="3200" dirty="0"/>
              <a:t> daarvoor publiek-private samenwerking.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843128-A0B5-B8C3-198E-E520B2DBE42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2837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3 RoSeS Tussenblad">
    <p:bg>
      <p:bgPr>
        <a:solidFill>
          <a:srgbClr val="27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5">
            <a:extLst>
              <a:ext uri="{FF2B5EF4-FFF2-40B4-BE49-F238E27FC236}">
                <a16:creationId xmlns:a16="http://schemas.microsoft.com/office/drawing/2014/main" id="{6B46AC23-515E-EF41-8709-AAEC7980BF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811987" y="4292600"/>
            <a:ext cx="763200" cy="9439479"/>
          </a:xfrm>
          <a:prstGeom prst="rect">
            <a:avLst/>
          </a:prstGeom>
        </p:spPr>
      </p:pic>
      <p:pic>
        <p:nvPicPr>
          <p:cNvPr id="23" name="Logo">
            <a:extLst>
              <a:ext uri="{FF2B5EF4-FFF2-40B4-BE49-F238E27FC236}">
                <a16:creationId xmlns:a16="http://schemas.microsoft.com/office/drawing/2014/main" id="{7E6F2157-E24D-D946-BAAF-5D051AFAF5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kstvak 4">
            <a:extLst>
              <a:ext uri="{FF2B5EF4-FFF2-40B4-BE49-F238E27FC236}">
                <a16:creationId xmlns:a16="http://schemas.microsoft.com/office/drawing/2014/main" id="{1A3A5AC5-777F-FF43-91CA-0AD52F132250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Regie op stelsels</a:t>
            </a:r>
            <a:br>
              <a:rPr lang="nl-NL" sz="4100" dirty="0">
                <a:solidFill>
                  <a:schemeClr val="bg1"/>
                </a:solidFill>
              </a:rPr>
            </a:br>
            <a:r>
              <a:rPr lang="nl-NL" sz="4100" dirty="0">
                <a:solidFill>
                  <a:schemeClr val="bg1"/>
                </a:solidFill>
              </a:rPr>
              <a:t>en standaarden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C71E140-DB11-0642-A23F-68EB8D19B9DE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54A9591-FEF9-7A41-9C49-A97E608BF217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FFBB216-F44A-8140-AC57-7CEDEA0A081E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872D1F-FE40-6146-91C8-80D5B680D5F2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E68C964-8D94-6245-A0C5-884F65E650FC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2995044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4 RoSeS Tussenblad met tekst">
    <p:bg>
      <p:bgPr>
        <a:solidFill>
          <a:srgbClr val="27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7CFF2726-F60B-0C4F-B20D-21B866795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96" y="-1"/>
            <a:ext cx="968400" cy="2408258"/>
          </a:xfrm>
          <a:prstGeom prst="rect">
            <a:avLst/>
          </a:prstGeom>
        </p:spPr>
      </p:pic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A5AF8086-D262-5648-A91E-50156F108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89010" y="4404188"/>
            <a:ext cx="9637381" cy="3870324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3200">
                <a:solidFill>
                  <a:schemeClr val="bg1"/>
                </a:solidFill>
              </a:defRPr>
            </a:lvl2pPr>
            <a:lvl3pPr>
              <a:defRPr sz="3200">
                <a:solidFill>
                  <a:schemeClr val="bg1"/>
                </a:solidFill>
              </a:defRPr>
            </a:lvl3pPr>
            <a:lvl4pPr>
              <a:defRPr sz="3200">
                <a:solidFill>
                  <a:schemeClr val="bg1"/>
                </a:solidFill>
              </a:defRPr>
            </a:lvl4pPr>
            <a:lvl5pPr>
              <a:defRPr sz="3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19" name="Picture 15">
            <a:extLst>
              <a:ext uri="{FF2B5EF4-FFF2-40B4-BE49-F238E27FC236}">
                <a16:creationId xmlns:a16="http://schemas.microsoft.com/office/drawing/2014/main" id="{350F79F4-1C9D-5448-A9CF-23D021EACF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811987" y="4292600"/>
            <a:ext cx="763200" cy="9439479"/>
          </a:xfrm>
          <a:prstGeom prst="rect">
            <a:avLst/>
          </a:prstGeom>
        </p:spPr>
      </p:pic>
      <p:sp>
        <p:nvSpPr>
          <p:cNvPr id="20" name="Tekstvak 4">
            <a:extLst>
              <a:ext uri="{FF2B5EF4-FFF2-40B4-BE49-F238E27FC236}">
                <a16:creationId xmlns:a16="http://schemas.microsoft.com/office/drawing/2014/main" id="{268C00D4-B177-5C47-8FAA-6B245E5C9E14}"/>
              </a:ext>
            </a:extLst>
          </p:cNvPr>
          <p:cNvSpPr txBox="1"/>
          <p:nvPr userDrawn="1"/>
        </p:nvSpPr>
        <p:spPr>
          <a:xfrm>
            <a:off x="4904165" y="4322563"/>
            <a:ext cx="6323601" cy="62234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Toegang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Interactie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Gegevensuitwisseling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>
                    <a:alpha val="50000"/>
                  </a:schemeClr>
                </a:solidFill>
              </a:rPr>
              <a:t>Infrastructuur</a:t>
            </a:r>
          </a:p>
          <a:p>
            <a:pPr algn="r">
              <a:lnSpc>
                <a:spcPct val="92000"/>
              </a:lnSpc>
            </a:pPr>
            <a:endParaRPr lang="nl-NL" sz="4100" dirty="0">
              <a:solidFill>
                <a:schemeClr val="bg1">
                  <a:alpha val="50000"/>
                </a:schemeClr>
              </a:solidFill>
            </a:endParaRPr>
          </a:p>
          <a:p>
            <a:pPr algn="r">
              <a:lnSpc>
                <a:spcPct val="92000"/>
              </a:lnSpc>
            </a:pPr>
            <a:r>
              <a:rPr lang="nl-NL" sz="4100" dirty="0">
                <a:solidFill>
                  <a:schemeClr val="bg1"/>
                </a:solidFill>
              </a:rPr>
              <a:t>Regie op stelsels</a:t>
            </a:r>
            <a:br>
              <a:rPr lang="nl-NL" sz="4100" dirty="0">
                <a:solidFill>
                  <a:schemeClr val="bg1"/>
                </a:solidFill>
              </a:rPr>
            </a:br>
            <a:r>
              <a:rPr lang="nl-NL" sz="4100" dirty="0">
                <a:solidFill>
                  <a:schemeClr val="bg1"/>
                </a:solidFill>
              </a:rPr>
              <a:t>en standaarden</a:t>
            </a:r>
          </a:p>
        </p:txBody>
      </p:sp>
      <p:sp>
        <p:nvSpPr>
          <p:cNvPr id="21" name="Oval 32">
            <a:extLst>
              <a:ext uri="{FF2B5EF4-FFF2-40B4-BE49-F238E27FC236}">
                <a16:creationId xmlns:a16="http://schemas.microsoft.com/office/drawing/2014/main" id="{68CE0245-68DB-1A4A-8D98-99B46DFA8902}"/>
              </a:ext>
            </a:extLst>
          </p:cNvPr>
          <p:cNvSpPr/>
          <p:nvPr userDrawn="1"/>
        </p:nvSpPr>
        <p:spPr>
          <a:xfrm>
            <a:off x="11812587" y="429260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2" name="Oval 33">
            <a:extLst>
              <a:ext uri="{FF2B5EF4-FFF2-40B4-BE49-F238E27FC236}">
                <a16:creationId xmlns:a16="http://schemas.microsoft.com/office/drawing/2014/main" id="{66B4F271-362C-E54D-BE90-ABF13A84B978}"/>
              </a:ext>
            </a:extLst>
          </p:cNvPr>
          <p:cNvSpPr/>
          <p:nvPr userDrawn="1"/>
        </p:nvSpPr>
        <p:spPr>
          <a:xfrm>
            <a:off x="11812587" y="5444920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3FE15843-AB95-C94D-80B8-CA2CDB10EF83}"/>
              </a:ext>
            </a:extLst>
          </p:cNvPr>
          <p:cNvSpPr/>
          <p:nvPr userDrawn="1"/>
        </p:nvSpPr>
        <p:spPr>
          <a:xfrm>
            <a:off x="11812586" y="659716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4" name="Oval 35">
            <a:extLst>
              <a:ext uri="{FF2B5EF4-FFF2-40B4-BE49-F238E27FC236}">
                <a16:creationId xmlns:a16="http://schemas.microsoft.com/office/drawing/2014/main" id="{FBE77C11-D0B2-A74C-A7D6-15BB26E30987}"/>
              </a:ext>
            </a:extLst>
          </p:cNvPr>
          <p:cNvSpPr/>
          <p:nvPr userDrawn="1"/>
        </p:nvSpPr>
        <p:spPr>
          <a:xfrm>
            <a:off x="11811772" y="7749488"/>
            <a:ext cx="762001" cy="762001"/>
          </a:xfrm>
          <a:prstGeom prst="ellipse">
            <a:avLst/>
          </a:prstGeom>
          <a:solidFill>
            <a:schemeClr val="bg1">
              <a:alpha val="4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  <p:sp>
        <p:nvSpPr>
          <p:cNvPr id="25" name="Oval 36">
            <a:extLst>
              <a:ext uri="{FF2B5EF4-FFF2-40B4-BE49-F238E27FC236}">
                <a16:creationId xmlns:a16="http://schemas.microsoft.com/office/drawing/2014/main" id="{6C849CAB-346F-494F-A6AF-9D06155C04F8}"/>
              </a:ext>
            </a:extLst>
          </p:cNvPr>
          <p:cNvSpPr/>
          <p:nvPr userDrawn="1"/>
        </p:nvSpPr>
        <p:spPr>
          <a:xfrm>
            <a:off x="11812586" y="8901736"/>
            <a:ext cx="762001" cy="762001"/>
          </a:xfrm>
          <a:prstGeom prst="ellipse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00"/>
            <a:endParaRPr lang="en-NL" sz="1000" dirty="0">
              <a:solidFill>
                <a:schemeClr val="bg1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241282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5 RoSeS Tussenblad Donker Groen">
    <p:bg>
      <p:bgPr>
        <a:solidFill>
          <a:srgbClr val="2759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35CA31EA-DB7A-4D23-BFD2-CB6577085181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bg1"/>
                </a:solidFill>
              </a:rPr>
              <a:t>Regie op stelsels en standaarden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10" name="Rechthoek 9">
            <a:extLst>
              <a:ext uri="{FF2B5EF4-FFF2-40B4-BE49-F238E27FC236}">
                <a16:creationId xmlns:a16="http://schemas.microsoft.com/office/drawing/2014/main" id="{0811765C-CAE6-B14F-A579-DA3EA0A88197}"/>
              </a:ext>
            </a:extLst>
          </p:cNvPr>
          <p:cNvSpPr/>
          <p:nvPr userDrawn="1"/>
        </p:nvSpPr>
        <p:spPr>
          <a:xfrm>
            <a:off x="11811987" y="11182471"/>
            <a:ext cx="763200" cy="2533529"/>
          </a:xfrm>
          <a:prstGeom prst="rect">
            <a:avLst/>
          </a:prstGeom>
          <a:solidFill>
            <a:srgbClr val="D4DED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CB76A40-450F-4A40-A8EF-8D07EC03B4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78F75B-327E-CC02-754A-7EBF7DFC5F6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7" y="10800871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93222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6 RoSeS Tussenblad Licht Donker Groen">
    <p:bg>
      <p:bgPr>
        <a:solidFill>
          <a:srgbClr val="D4DE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55837" y="3439355"/>
            <a:ext cx="19917447" cy="3995114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8400"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C1258A58-5CCE-4F6F-B3CF-DC888064F9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B6409286-E4AB-AB41-9C8D-E6F3AFEFDB95}"/>
              </a:ext>
            </a:extLst>
          </p:cNvPr>
          <p:cNvSpPr txBox="1"/>
          <p:nvPr userDrawn="1"/>
        </p:nvSpPr>
        <p:spPr>
          <a:xfrm>
            <a:off x="12861697" y="10802400"/>
            <a:ext cx="8070575" cy="763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>
                <a:solidFill>
                  <a:schemeClr val="tx1"/>
                </a:solidFill>
              </a:rPr>
              <a:t>Regie op stelsels en standaarden</a:t>
            </a:r>
          </a:p>
        </p:txBody>
      </p:sp>
      <p:sp>
        <p:nvSpPr>
          <p:cNvPr id="9" name="Rechthoek 8">
            <a:extLst>
              <a:ext uri="{FF2B5EF4-FFF2-40B4-BE49-F238E27FC236}">
                <a16:creationId xmlns:a16="http://schemas.microsoft.com/office/drawing/2014/main" id="{01132E7E-094D-CB4D-B255-37D2C5B3D2D9}"/>
              </a:ext>
            </a:extLst>
          </p:cNvPr>
          <p:cNvSpPr/>
          <p:nvPr userDrawn="1"/>
        </p:nvSpPr>
        <p:spPr>
          <a:xfrm>
            <a:off x="11811987" y="11188297"/>
            <a:ext cx="763200" cy="2527704"/>
          </a:xfrm>
          <a:prstGeom prst="rect">
            <a:avLst/>
          </a:prstGeom>
          <a:solidFill>
            <a:srgbClr val="27593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19A8832-6331-5F43-90F6-8707788279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987" y="10802400"/>
            <a:ext cx="763200" cy="763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E4BA05-B81B-2FEE-E414-4A8F23651F3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811987" y="10802643"/>
            <a:ext cx="763200" cy="76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7576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7 RoSeS Beeld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636F92F-B88A-4976-9DCD-56BF05853C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3588" cy="13716000"/>
          </a:xfrm>
          <a:custGeom>
            <a:avLst/>
            <a:gdLst>
              <a:gd name="connsiteX0" fmla="*/ 0 w 12193588"/>
              <a:gd name="connsiteY0" fmla="*/ 0 h 13716000"/>
              <a:gd name="connsiteX1" fmla="*/ 11711187 w 12193588"/>
              <a:gd name="connsiteY1" fmla="*/ 0 h 13716000"/>
              <a:gd name="connsiteX2" fmla="*/ 11711187 w 12193588"/>
              <a:gd name="connsiteY2" fmla="*/ 1923292 h 13716000"/>
              <a:gd name="connsiteX3" fmla="*/ 12193588 w 12193588"/>
              <a:gd name="connsiteY3" fmla="*/ 1923292 h 13716000"/>
              <a:gd name="connsiteX4" fmla="*/ 12193588 w 12193588"/>
              <a:gd name="connsiteY4" fmla="*/ 13716000 h 13716000"/>
              <a:gd name="connsiteX5" fmla="*/ 0 w 12193588"/>
              <a:gd name="connsiteY5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3588" h="13716000">
                <a:moveTo>
                  <a:pt x="0" y="0"/>
                </a:moveTo>
                <a:lnTo>
                  <a:pt x="11711187" y="0"/>
                </a:lnTo>
                <a:lnTo>
                  <a:pt x="11711187" y="1923292"/>
                </a:lnTo>
                <a:lnTo>
                  <a:pt x="12193588" y="1923292"/>
                </a:lnTo>
                <a:lnTo>
                  <a:pt x="12193588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GB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29EF954-25EC-D84F-BA2C-80D04516C6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7" name="Tekstvak 16">
            <a:extLst>
              <a:ext uri="{FF2B5EF4-FFF2-40B4-BE49-F238E27FC236}">
                <a16:creationId xmlns:a16="http://schemas.microsoft.com/office/drawing/2014/main" id="{A04687F6-5194-EF46-BBDB-73FD99C4900B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9598D9-7446-9D6A-66A7-C41A84CF9C1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4517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8 RoSeS visual links - Teks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D8575709-26E5-0C46-9B96-20652798B6DD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2759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857760E4-39FF-5644-805E-0C00EE1CC6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7011" y="3352801"/>
            <a:ext cx="8458304" cy="7029450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215A8D-00E2-5040-8DAF-540B747A98E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DD5033E1-4FB9-284D-AAD8-43315509A266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E8A52F-5621-89ED-7F2E-915AD93950C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44675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9 RoSeS Beeld voorbeeld –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7E7632E4-F36D-6246-BD36-44C6226E3C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27" y="4980"/>
            <a:ext cx="12183145" cy="13706039"/>
          </a:xfrm>
          <a:prstGeom prst="rect">
            <a:avLst/>
          </a:prstGeo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63B7D6E-8CAC-4E8F-8228-1980ED8F9D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145D4932-4C1C-344A-AAFC-C7FC6F5F0224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9ED20225-93F0-0E42-80ED-7BBBF0D45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22009D3-1EBC-B24F-91B2-CBF19B6854C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57215A8D-00E2-5040-8DAF-540B747A98E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8" name="Tekstvak 17">
            <a:extLst>
              <a:ext uri="{FF2B5EF4-FFF2-40B4-BE49-F238E27FC236}">
                <a16:creationId xmlns:a16="http://schemas.microsoft.com/office/drawing/2014/main" id="{DD5033E1-4FB9-284D-AAD8-43315509A266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35C4AB-FEC7-ADBF-FD20-2B31D47663D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654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10 RoSeS Illustratie -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2D09B5-47EE-4FA2-919C-C0E306FA2016}"/>
              </a:ext>
            </a:extLst>
          </p:cNvPr>
          <p:cNvSpPr/>
          <p:nvPr userDrawn="1"/>
        </p:nvSpPr>
        <p:spPr>
          <a:xfrm>
            <a:off x="0" y="0"/>
            <a:ext cx="12193587" cy="13716000"/>
          </a:xfrm>
          <a:prstGeom prst="rect">
            <a:avLst/>
          </a:prstGeom>
          <a:solidFill>
            <a:srgbClr val="D4DE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C3E1A9C-B3A2-427F-8EB7-E012959709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9" name="Straight Connector 11">
            <a:extLst>
              <a:ext uri="{FF2B5EF4-FFF2-40B4-BE49-F238E27FC236}">
                <a16:creationId xmlns:a16="http://schemas.microsoft.com/office/drawing/2014/main" id="{6580C052-5B72-4748-B6E2-041B2156AD8C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8415DBEF-7F37-D843-8AA6-ABC020B509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5991F1C1-DA65-534B-B988-E8D67D69AE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879C09ED-B6E1-B04C-BF25-4A98EE8713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93" y="3086100"/>
            <a:ext cx="7899400" cy="75438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308CCD3B-43A7-E145-B604-E4D538ABEE4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6" name="Tekstvak 15">
            <a:extLst>
              <a:ext uri="{FF2B5EF4-FFF2-40B4-BE49-F238E27FC236}">
                <a16:creationId xmlns:a16="http://schemas.microsoft.com/office/drawing/2014/main" id="{21F2EE53-5715-0649-902D-82F79FFC162A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FBEB6A-4B98-DBEE-E475-FF741707DC8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7374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11 RoSeS Twee kolommen m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10005046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10070701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7" y="3726000"/>
            <a:ext cx="10115308" cy="8702675"/>
          </a:xfrm>
        </p:spPr>
        <p:txBody>
          <a:bodyPr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15" name="Straight Connector 11">
            <a:extLst>
              <a:ext uri="{FF2B5EF4-FFF2-40B4-BE49-F238E27FC236}">
                <a16:creationId xmlns:a16="http://schemas.microsoft.com/office/drawing/2014/main" id="{A954BB3E-ADCE-A741-83C0-46CE52CC50B8}"/>
              </a:ext>
            </a:extLst>
          </p:cNvPr>
          <p:cNvCxnSpPr>
            <a:cxnSpLocks/>
          </p:cNvCxnSpPr>
          <p:nvPr userDrawn="1"/>
        </p:nvCxnSpPr>
        <p:spPr>
          <a:xfrm>
            <a:off x="12923112" y="3295650"/>
            <a:ext cx="10115308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55957BE6-15DD-E74F-94EE-159CD092F6A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933600" y="1725613"/>
            <a:ext cx="10104820" cy="12924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4800" b="1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2pPr>
            <a:lvl3pPr marL="0" indent="0">
              <a:lnSpc>
                <a:spcPct val="90000"/>
              </a:lnSpc>
              <a:buFont typeface="Arial" panose="020B0604020202020204" pitchFamily="34" charset="0"/>
              <a:buNone/>
              <a:defRPr sz="6400" b="1">
                <a:solidFill>
                  <a:schemeClr val="tx2"/>
                </a:solidFill>
              </a:defRPr>
            </a:lvl3pPr>
            <a:lvl4pPr marL="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4pPr>
            <a:lvl5pPr marL="360000" indent="0">
              <a:lnSpc>
                <a:spcPct val="90000"/>
              </a:lnSpc>
              <a:buNone/>
              <a:defRPr sz="6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nl-NL" dirty="0"/>
              <a:t>Kolom titel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9E233DF-287A-024B-A85C-C41538AA28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933600" y="3726000"/>
            <a:ext cx="10115308" cy="8702675"/>
          </a:xfrm>
        </p:spPr>
        <p:txBody>
          <a:bodyPr/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28837500-0497-9E40-AECC-1DAA6731DF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21" name="Tekstvak 20">
            <a:extLst>
              <a:ext uri="{FF2B5EF4-FFF2-40B4-BE49-F238E27FC236}">
                <a16:creationId xmlns:a16="http://schemas.microsoft.com/office/drawing/2014/main" id="{9959202B-4675-D047-AF9D-EE6FAFC9B4E9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F3619-D33B-483A-BBB1-C937A1CB89D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049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12 RoSeS Tekst over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48756" y="1725278"/>
            <a:ext cx="21710640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Kolom titel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7FD8D1-3DEF-4FCB-9CF8-50D4C190EF69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F4EE1DA-9BE6-4C54-9886-AC193D9CE62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8266" y="3726000"/>
            <a:ext cx="21710641" cy="8702675"/>
          </a:xfrm>
        </p:spPr>
        <p:txBody>
          <a:bodyPr numCol="2" spcCol="108000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A93AF3DA-9BC0-6B4B-9CBD-99BCF696C1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036C9C0-F35B-1846-886F-0B16493E1F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E8CCE8B3-D056-F844-82AA-F2321270952D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FA7102-C484-C3B4-1207-A0D57ECE9A6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2845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13 RoSeS Tabel of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8755" y="1725278"/>
            <a:ext cx="21689664" cy="1293785"/>
          </a:xfrm>
        </p:spPr>
        <p:txBody>
          <a:bodyPr/>
          <a:lstStyle>
            <a:lvl1pPr>
              <a:defRPr sz="4800"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title</a:t>
            </a:r>
            <a:r>
              <a:rPr lang="nl-NL" dirty="0"/>
              <a:t> </a:t>
            </a:r>
            <a:r>
              <a:rPr lang="nl-NL" dirty="0" err="1"/>
              <a:t>style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26 augustus 2021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‹nr.›</a:t>
            </a:fld>
            <a:endParaRPr lang="nl-NL" dirty="0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79F293BA-1623-4A76-8D5B-FD12AA92B2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EF27C3-F59F-43D6-AAAF-8DA7D3A4CA7E}"/>
              </a:ext>
            </a:extLst>
          </p:cNvPr>
          <p:cNvCxnSpPr>
            <a:cxnSpLocks/>
          </p:cNvCxnSpPr>
          <p:nvPr userDrawn="1"/>
        </p:nvCxnSpPr>
        <p:spPr>
          <a:xfrm>
            <a:off x="1348756" y="3295650"/>
            <a:ext cx="21689664" cy="0"/>
          </a:xfrm>
          <a:prstGeom prst="line">
            <a:avLst/>
          </a:prstGeom>
          <a:ln w="38100">
            <a:solidFill>
              <a:srgbClr val="2759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jdelijke aanduiding voor tabel 4">
            <a:extLst>
              <a:ext uri="{FF2B5EF4-FFF2-40B4-BE49-F238E27FC236}">
                <a16:creationId xmlns:a16="http://schemas.microsoft.com/office/drawing/2014/main" id="{7BF9B7D8-7E90-244C-8B2F-C2B69B36DEDF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348756" y="3714749"/>
            <a:ext cx="21689664" cy="8640425"/>
          </a:xfrm>
        </p:spPr>
        <p:txBody>
          <a:bodyPr/>
          <a:lstStyle/>
          <a:p>
            <a:endParaRPr lang="nl-NL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C5A274D-FA27-6344-B783-4D64D1E007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C13F8CB5-2748-9649-B124-F65DF9B0DCC2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56DD39-1CF6-403D-CD37-9C48BD967AC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3494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.14 RoSeS Be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>
            <a:extLst>
              <a:ext uri="{FF2B5EF4-FFF2-40B4-BE49-F238E27FC236}">
                <a16:creationId xmlns:a16="http://schemas.microsoft.com/office/drawing/2014/main" id="{E97658EF-1099-4CB2-8E8E-A889FB17CD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09387" y="-1"/>
            <a:ext cx="968400" cy="2408258"/>
          </a:xfrm>
          <a:prstGeom prst="rect">
            <a:avLst/>
          </a:prstGeom>
        </p:spPr>
      </p:pic>
      <p:sp>
        <p:nvSpPr>
          <p:cNvPr id="7" name="Tijdelijke aanduiding voor afbeelding 3">
            <a:extLst>
              <a:ext uri="{FF2B5EF4-FFF2-40B4-BE49-F238E27FC236}">
                <a16:creationId xmlns:a16="http://schemas.microsoft.com/office/drawing/2014/main" id="{1285364B-54E1-FE4C-AC63-24684CF4CA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927123"/>
            <a:ext cx="24387175" cy="11788877"/>
          </a:xfrm>
        </p:spPr>
        <p:txBody>
          <a:bodyPr/>
          <a:lstStyle/>
          <a:p>
            <a:endParaRPr lang="nl-N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A409D8F-0DB2-4F48-A6A4-01B168B14E2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315975" y="464400"/>
            <a:ext cx="8071200" cy="951792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2B0984A9-AEF4-4F47-92D8-AA6901DCC9DC}"/>
              </a:ext>
            </a:extLst>
          </p:cNvPr>
          <p:cNvSpPr txBox="1"/>
          <p:nvPr userDrawn="1"/>
        </p:nvSpPr>
        <p:spPr>
          <a:xfrm>
            <a:off x="17701246" y="547085"/>
            <a:ext cx="6345527" cy="728663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r>
              <a:rPr lang="nl-NL" sz="2600" b="1" dirty="0"/>
              <a:t>Regie op stelsels en standaarden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3FF63F-6EB8-59BD-5937-1955B8A8C8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6315973" y="464400"/>
            <a:ext cx="968400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9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103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60001" y="1725278"/>
            <a:ext cx="20013283" cy="12937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000" y="3726610"/>
            <a:ext cx="20013284" cy="86273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  <a:p>
            <a:pPr lvl="5"/>
            <a:r>
              <a:rPr lang="nl-NL" dirty="0"/>
              <a:t>Six</a:t>
            </a:r>
          </a:p>
          <a:p>
            <a:pPr lvl="6"/>
            <a:r>
              <a:rPr lang="nl-NL" dirty="0" err="1"/>
              <a:t>Seven</a:t>
            </a:r>
            <a:endParaRPr lang="nl-NL" dirty="0"/>
          </a:p>
          <a:p>
            <a:pPr lvl="7"/>
            <a:r>
              <a:rPr lang="nl-NL" dirty="0" err="1"/>
              <a:t>Eight</a:t>
            </a:r>
            <a:endParaRPr lang="nl-NL" dirty="0"/>
          </a:p>
          <a:p>
            <a:pPr lvl="8"/>
            <a:r>
              <a:rPr lang="nl-NL" dirty="0" err="1"/>
              <a:t>Nine</a:t>
            </a:r>
            <a:endParaRPr lang="nl-N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166155" y="12781172"/>
            <a:ext cx="5007129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l-NL" dirty="0"/>
              <a:t>26 augustus 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411426" y="12781172"/>
            <a:ext cx="1557752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012CB-14D3-4B29-B9BE-EBD198EAE235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07767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81" r:id="rId3"/>
    <p:sldLayoutId id="2147483883" r:id="rId4"/>
    <p:sldLayoutId id="2147483726" r:id="rId5"/>
    <p:sldLayoutId id="2147483661" r:id="rId6"/>
    <p:sldLayoutId id="2147483716" r:id="rId7"/>
    <p:sldLayoutId id="2147483792" r:id="rId8"/>
    <p:sldLayoutId id="2147483882" r:id="rId9"/>
    <p:sldLayoutId id="2147483785" r:id="rId10"/>
    <p:sldLayoutId id="2147483735" r:id="rId11"/>
    <p:sldLayoutId id="2147483682" r:id="rId12"/>
    <p:sldLayoutId id="2147483768" r:id="rId13"/>
    <p:sldLayoutId id="2147483771" r:id="rId14"/>
    <p:sldLayoutId id="2147483804" r:id="rId15"/>
    <p:sldLayoutId id="2147483801" r:id="rId16"/>
    <p:sldLayoutId id="2147483770" r:id="rId17"/>
    <p:sldLayoutId id="2147483798" r:id="rId18"/>
    <p:sldLayoutId id="2147483774" r:id="rId19"/>
    <p:sldLayoutId id="2147483769" r:id="rId20"/>
    <p:sldLayoutId id="2147483861" r:id="rId21"/>
    <p:sldLayoutId id="2147483875" r:id="rId22"/>
    <p:sldLayoutId id="2147483800" r:id="rId23"/>
    <p:sldLayoutId id="2147483862" r:id="rId24"/>
    <p:sldLayoutId id="2147483791" r:id="rId25"/>
    <p:sldLayoutId id="2147483857" r:id="rId26"/>
    <p:sldLayoutId id="2147483876" r:id="rId27"/>
    <p:sldLayoutId id="2147483860" r:id="rId28"/>
    <p:sldLayoutId id="2147483877" r:id="rId29"/>
    <p:sldLayoutId id="2147483879" r:id="rId30"/>
    <p:sldLayoutId id="2147483878" r:id="rId31"/>
    <p:sldLayoutId id="2147483863" r:id="rId32"/>
    <p:sldLayoutId id="2147483790" r:id="rId33"/>
    <p:sldLayoutId id="2147483864" r:id="rId34"/>
    <p:sldLayoutId id="2147483677" r:id="rId35"/>
    <p:sldLayoutId id="2147483778" r:id="rId36"/>
    <p:sldLayoutId id="2147483799" r:id="rId37"/>
    <p:sldLayoutId id="2147483663" r:id="rId38"/>
    <p:sldLayoutId id="2147483786" r:id="rId39"/>
    <p:sldLayoutId id="2147483866" r:id="rId40"/>
    <p:sldLayoutId id="2147483805" r:id="rId41"/>
    <p:sldLayoutId id="2147483685" r:id="rId42"/>
    <p:sldLayoutId id="2147483787" r:id="rId43"/>
    <p:sldLayoutId id="2147483797" r:id="rId44"/>
    <p:sldLayoutId id="2147483788" r:id="rId45"/>
    <p:sldLayoutId id="2147483796" r:id="rId46"/>
    <p:sldLayoutId id="2147483807" r:id="rId47"/>
    <p:sldLayoutId id="2147483867" r:id="rId48"/>
    <p:sldLayoutId id="2147483808" r:id="rId49"/>
    <p:sldLayoutId id="2147483809" r:id="rId50"/>
    <p:sldLayoutId id="2147483819" r:id="rId51"/>
    <p:sldLayoutId id="2147483820" r:id="rId52"/>
    <p:sldLayoutId id="2147483812" r:id="rId53"/>
    <p:sldLayoutId id="2147483868" r:id="rId54"/>
    <p:sldLayoutId id="2147483813" r:id="rId55"/>
    <p:sldLayoutId id="2147483814" r:id="rId56"/>
    <p:sldLayoutId id="2147483815" r:id="rId57"/>
    <p:sldLayoutId id="2147483816" r:id="rId58"/>
    <p:sldLayoutId id="2147483817" r:id="rId59"/>
    <p:sldLayoutId id="2147483818" r:id="rId60"/>
    <p:sldLayoutId id="2147483821" r:id="rId61"/>
    <p:sldLayoutId id="2147483869" r:id="rId62"/>
    <p:sldLayoutId id="2147483822" r:id="rId63"/>
    <p:sldLayoutId id="2147483823" r:id="rId64"/>
    <p:sldLayoutId id="2147483824" r:id="rId65"/>
    <p:sldLayoutId id="2147483825" r:id="rId66"/>
    <p:sldLayoutId id="2147483826" r:id="rId67"/>
    <p:sldLayoutId id="2147483870" r:id="rId68"/>
    <p:sldLayoutId id="2147483827" r:id="rId69"/>
    <p:sldLayoutId id="2147483828" r:id="rId70"/>
    <p:sldLayoutId id="2147483829" r:id="rId71"/>
    <p:sldLayoutId id="2147483830" r:id="rId72"/>
    <p:sldLayoutId id="2147483831" r:id="rId73"/>
    <p:sldLayoutId id="2147483832" r:id="rId74"/>
    <p:sldLayoutId id="2147483833" r:id="rId75"/>
    <p:sldLayoutId id="2147483871" r:id="rId76"/>
    <p:sldLayoutId id="2147483834" r:id="rId77"/>
    <p:sldLayoutId id="2147483835" r:id="rId78"/>
    <p:sldLayoutId id="2147483836" r:id="rId79"/>
    <p:sldLayoutId id="2147483837" r:id="rId80"/>
    <p:sldLayoutId id="2147483838" r:id="rId81"/>
    <p:sldLayoutId id="2147483872" r:id="rId82"/>
    <p:sldLayoutId id="2147483839" r:id="rId83"/>
    <p:sldLayoutId id="2147483840" r:id="rId84"/>
    <p:sldLayoutId id="2147483841" r:id="rId85"/>
    <p:sldLayoutId id="2147483842" r:id="rId86"/>
    <p:sldLayoutId id="2147483843" r:id="rId87"/>
    <p:sldLayoutId id="2147483844" r:id="rId88"/>
    <p:sldLayoutId id="2147483845" r:id="rId89"/>
    <p:sldLayoutId id="2147483873" r:id="rId90"/>
    <p:sldLayoutId id="2147483846" r:id="rId91"/>
    <p:sldLayoutId id="2147483847" r:id="rId92"/>
    <p:sldLayoutId id="2147483848" r:id="rId93"/>
    <p:sldLayoutId id="2147483849" r:id="rId94"/>
    <p:sldLayoutId id="2147483850" r:id="rId95"/>
    <p:sldLayoutId id="2147483874" r:id="rId96"/>
    <p:sldLayoutId id="2147483851" r:id="rId97"/>
    <p:sldLayoutId id="2147483852" r:id="rId98"/>
    <p:sldLayoutId id="2147483853" r:id="rId99"/>
    <p:sldLayoutId id="2147483854" r:id="rId100"/>
    <p:sldLayoutId id="2147483855" r:id="rId101"/>
    <p:sldLayoutId id="2147483856" r:id="rId10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828800" rtl="0" eaLnBrk="1" latinLnBrk="0" hangingPunct="1">
        <a:lnSpc>
          <a:spcPct val="100000"/>
        </a:lnSpc>
        <a:spcBef>
          <a:spcPts val="24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182880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2600" b="1" kern="1200">
          <a:solidFill>
            <a:srgbClr val="39870C"/>
          </a:solidFill>
          <a:latin typeface="+mn-lt"/>
          <a:ea typeface="+mn-ea"/>
          <a:cs typeface="+mn-cs"/>
        </a:defRPr>
      </a:lvl2pPr>
      <a:lvl3pPr marL="0" indent="0" algn="l" defTabSz="1828800" rtl="0" eaLnBrk="1" latinLnBrk="0" hangingPunct="1">
        <a:lnSpc>
          <a:spcPct val="100000"/>
        </a:lnSpc>
        <a:spcBef>
          <a:spcPts val="2400"/>
        </a:spcBef>
        <a:buFont typeface="Arial" panose="020B0604020202020204" pitchFamily="34" charset="0"/>
        <a:buNone/>
        <a:defRPr sz="3200" b="1" kern="1200">
          <a:solidFill>
            <a:srgbClr val="39870C"/>
          </a:solidFill>
          <a:latin typeface="+mn-lt"/>
          <a:ea typeface="+mn-ea"/>
          <a:cs typeface="+mn-cs"/>
        </a:defRPr>
      </a:lvl3pPr>
      <a:lvl4pPr marL="0" indent="-360000" algn="l" defTabSz="1828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360000" algn="l" defTabSz="1828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000" indent="-360000" algn="l" defTabSz="1828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-540000" algn="l" defTabSz="1828800" rtl="0" eaLnBrk="1" latinLnBrk="0" hangingPunct="1">
        <a:lnSpc>
          <a:spcPct val="100000"/>
        </a:lnSpc>
        <a:spcBef>
          <a:spcPts val="0"/>
        </a:spcBef>
        <a:buFont typeface="+mj-lt"/>
        <a:buAutoNum type="arabi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1080000" indent="-540000" algn="l" defTabSz="1828800" rtl="0" eaLnBrk="1" latinLnBrk="0" hangingPunct="1">
        <a:lnSpc>
          <a:spcPct val="100000"/>
        </a:lnSpc>
        <a:spcBef>
          <a:spcPts val="0"/>
        </a:spcBef>
        <a:buFont typeface="+mj-lt"/>
        <a:buAutoNum type="alphaLcPeriod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1620000" indent="-540000" algn="l" defTabSz="1828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399" userDrawn="1">
          <p15:clr>
            <a:srgbClr val="F26B43"/>
          </p15:clr>
        </p15:guide>
        <p15:guide id="2" pos="1396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ogius-standaarden.github.io/Publicatie-Preview/OAuth-NL-profiel/thin-profile/" TargetMode="Externa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documentatie.logius.nl/publicatie/api/oauth-inleiding/0.1.0/" TargetMode="Externa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mailto:api@logius.nl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75823-4116-A79B-2992-D6F51F141A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Technisch Overleg </a:t>
            </a:r>
            <a:r>
              <a:rPr lang="nl-NL" dirty="0" err="1"/>
              <a:t>NLGov</a:t>
            </a:r>
            <a:r>
              <a:rPr lang="nl-NL" dirty="0"/>
              <a:t> </a:t>
            </a:r>
            <a:r>
              <a:rPr lang="nl-NL" dirty="0" err="1"/>
              <a:t>OAuth</a:t>
            </a:r>
            <a:r>
              <a:rPr lang="nl-NL" dirty="0"/>
              <a:t> 2.0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E9784C2-3D80-F032-6C74-F85470D2F0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b="1" dirty="0"/>
              <a:t>Datum: 01 oktober 2026</a:t>
            </a:r>
          </a:p>
        </p:txBody>
      </p:sp>
    </p:spTree>
    <p:extLst>
      <p:ext uri="{BB962C8B-B14F-4D97-AF65-F5344CB8AC3E}">
        <p14:creationId xmlns:p14="http://schemas.microsoft.com/office/powerpoint/2010/main" val="319414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42F5F-D2EB-37B0-9C1A-346B6EA2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Mededelingen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BFE081B-B52D-B124-8ED5-E632B1EE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2</a:t>
            </a:fld>
            <a:endParaRPr lang="nl-NL" dirty="0"/>
          </a:p>
        </p:txBody>
      </p:sp>
      <p:sp>
        <p:nvSpPr>
          <p:cNvPr id="4" name="Tijdelijke aanduiding voor tabel 3">
            <a:extLst>
              <a:ext uri="{FF2B5EF4-FFF2-40B4-BE49-F238E27FC236}">
                <a16:creationId xmlns:a16="http://schemas.microsoft.com/office/drawing/2014/main" id="{69A80988-EDD8-98BD-710F-02A2F9CC2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</a:rPr>
              <a:t>Voortgang gebruikersonderzoek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</a:rPr>
              <a:t>Ambitie </a:t>
            </a:r>
            <a:r>
              <a:rPr lang="nl-NL" sz="4000" dirty="0" err="1">
                <a:latin typeface="Aptos" panose="020B0004020202020204" pitchFamily="34" charset="0"/>
              </a:rPr>
              <a:t>NLGov</a:t>
            </a:r>
            <a:r>
              <a:rPr lang="nl-NL" sz="4000" dirty="0">
                <a:latin typeface="Aptos" panose="020B0004020202020204" pitchFamily="34" charset="0"/>
              </a:rPr>
              <a:t> profiel aan te laten sluiten bij Domein Toegang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2112FAC-B193-523E-D3F3-21CDCF3C9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775" y="4543492"/>
            <a:ext cx="895764" cy="101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78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909DB273-BA9F-EE23-7685-09A16A1F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3</a:t>
            </a:fld>
            <a:endParaRPr lang="nl-NL" dirty="0"/>
          </a:p>
        </p:txBody>
      </p:sp>
      <p:sp>
        <p:nvSpPr>
          <p:cNvPr id="8" name="Pijl: gebogen omhoog 7">
            <a:extLst>
              <a:ext uri="{FF2B5EF4-FFF2-40B4-BE49-F238E27FC236}">
                <a16:creationId xmlns:a16="http://schemas.microsoft.com/office/drawing/2014/main" id="{097EFF00-F71A-9061-0CA9-FA079D230D6C}"/>
              </a:ext>
            </a:extLst>
          </p:cNvPr>
          <p:cNvSpPr/>
          <p:nvPr/>
        </p:nvSpPr>
        <p:spPr>
          <a:xfrm rot="10800000">
            <a:off x="2126974" y="4671391"/>
            <a:ext cx="9740348" cy="278296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678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42F5F-D2EB-37B0-9C1A-346B6EA2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755" y="1994966"/>
            <a:ext cx="21689664" cy="1293785"/>
          </a:xfrm>
        </p:spPr>
        <p:txBody>
          <a:bodyPr/>
          <a:lstStyle/>
          <a:p>
            <a:r>
              <a:rPr lang="nl-NL" dirty="0"/>
              <a:t>Strategische keuze rondom client-authenticatie in profiel [1]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BFE081B-B52D-B124-8ED5-E632B1EE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4</a:t>
            </a:fld>
            <a:endParaRPr lang="nl-NL" dirty="0"/>
          </a:p>
        </p:txBody>
      </p:sp>
      <p:sp>
        <p:nvSpPr>
          <p:cNvPr id="4" name="Tijdelijke aanduiding voor tabel 3">
            <a:extLst>
              <a:ext uri="{FF2B5EF4-FFF2-40B4-BE49-F238E27FC236}">
                <a16:creationId xmlns:a16="http://schemas.microsoft.com/office/drawing/2014/main" id="{69A80988-EDD8-98BD-710F-02A2F9CC2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b="1" dirty="0">
                <a:latin typeface="Aptos" panose="020B0004020202020204" pitchFamily="34" charset="0"/>
              </a:rPr>
              <a:t>Huidige situatie: </a:t>
            </a:r>
            <a:r>
              <a:rPr lang="nl-NL" sz="4000" dirty="0">
                <a:latin typeface="Aptos" panose="020B0004020202020204" pitchFamily="34" charset="0"/>
              </a:rPr>
              <a:t>Het profiel </a:t>
            </a:r>
            <a:r>
              <a:rPr lang="nl-NL" sz="4000" b="1" dirty="0">
                <a:latin typeface="Aptos" panose="020B0004020202020204" pitchFamily="34" charset="0"/>
              </a:rPr>
              <a:t>verplicht</a:t>
            </a:r>
            <a:r>
              <a:rPr lang="nl-NL" sz="4000" dirty="0">
                <a:latin typeface="Aptos" panose="020B0004020202020204" pitchFamily="34" charset="0"/>
              </a:rPr>
              <a:t> </a:t>
            </a:r>
            <a:r>
              <a:rPr lang="nl-NL" sz="4000" dirty="0" err="1">
                <a:latin typeface="Aptos" panose="020B0004020202020204" pitchFamily="34" charset="0"/>
              </a:rPr>
              <a:t>private_key_jwt</a:t>
            </a:r>
            <a:r>
              <a:rPr lang="nl-NL" sz="4000" dirty="0">
                <a:latin typeface="Aptos" panose="020B0004020202020204" pitchFamily="34" charset="0"/>
              </a:rPr>
              <a:t> (MUST), maar staat </a:t>
            </a:r>
            <a:r>
              <a:rPr lang="nl-NL" sz="4000" dirty="0" err="1">
                <a:latin typeface="Aptos" panose="020B0004020202020204" pitchFamily="34" charset="0"/>
              </a:rPr>
              <a:t>mTLS</a:t>
            </a:r>
            <a:r>
              <a:rPr lang="nl-NL" sz="4000" dirty="0">
                <a:latin typeface="Aptos" panose="020B0004020202020204" pitchFamily="34" charset="0"/>
              </a:rPr>
              <a:t> via </a:t>
            </a:r>
            <a:r>
              <a:rPr lang="nl-NL" sz="4000" dirty="0" err="1">
                <a:latin typeface="Aptos" panose="020B0004020202020204" pitchFamily="34" charset="0"/>
              </a:rPr>
              <a:t>tls_client_auth</a:t>
            </a:r>
            <a:r>
              <a:rPr lang="nl-NL" sz="4000" dirty="0">
                <a:latin typeface="Aptos" panose="020B0004020202020204" pitchFamily="34" charset="0"/>
              </a:rPr>
              <a:t> [RFC 8705] </a:t>
            </a:r>
            <a:r>
              <a:rPr lang="nl-NL" sz="4000" b="1" dirty="0">
                <a:latin typeface="Aptos" panose="020B0004020202020204" pitchFamily="34" charset="0"/>
              </a:rPr>
              <a:t>optioneel</a:t>
            </a:r>
            <a:r>
              <a:rPr lang="nl-NL" sz="4000" dirty="0">
                <a:latin typeface="Aptos" panose="020B0004020202020204" pitchFamily="34" charset="0"/>
              </a:rPr>
              <a:t> toe (MAY)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b="1" dirty="0">
                <a:latin typeface="Aptos" panose="020B0004020202020204" pitchFamily="34" charset="0"/>
              </a:rPr>
              <a:t>Wijziging met impact: </a:t>
            </a:r>
            <a:r>
              <a:rPr lang="nl-NL" sz="4000" dirty="0">
                <a:latin typeface="Aptos" panose="020B0004020202020204" pitchFamily="34" charset="0"/>
              </a:rPr>
              <a:t>Publieke </a:t>
            </a:r>
            <a:r>
              <a:rPr lang="nl-NL" sz="4000" dirty="0" err="1">
                <a:latin typeface="Aptos" panose="020B0004020202020204" pitchFamily="34" charset="0"/>
              </a:rPr>
              <a:t>CA's</a:t>
            </a:r>
            <a:r>
              <a:rPr lang="nl-NL" sz="4000" dirty="0">
                <a:latin typeface="Aptos" panose="020B0004020202020204" pitchFamily="34" charset="0"/>
              </a:rPr>
              <a:t> (</a:t>
            </a:r>
            <a:r>
              <a:rPr lang="nl-NL" sz="4000" dirty="0" err="1">
                <a:latin typeface="Aptos" panose="020B0004020202020204" pitchFamily="34" charset="0"/>
              </a:rPr>
              <a:t>Sectigo</a:t>
            </a:r>
            <a:r>
              <a:rPr lang="nl-NL" sz="4000" dirty="0">
                <a:latin typeface="Aptos" panose="020B0004020202020204" pitchFamily="34" charset="0"/>
              </a:rPr>
              <a:t>, </a:t>
            </a:r>
            <a:r>
              <a:rPr lang="nl-NL" sz="4000" dirty="0" err="1">
                <a:latin typeface="Aptos" panose="020B0004020202020204" pitchFamily="34" charset="0"/>
              </a:rPr>
              <a:t>DigiCert</a:t>
            </a:r>
            <a:r>
              <a:rPr lang="nl-NL" sz="4000" dirty="0">
                <a:latin typeface="Aptos" panose="020B0004020202020204" pitchFamily="34" charset="0"/>
              </a:rPr>
              <a:t>) stoppen definitief met de </a:t>
            </a:r>
            <a:r>
              <a:rPr lang="nl-NL" sz="4000" dirty="0" err="1">
                <a:latin typeface="Aptos" panose="020B0004020202020204" pitchFamily="34" charset="0"/>
              </a:rPr>
              <a:t>clientAuth</a:t>
            </a:r>
            <a:r>
              <a:rPr lang="nl-NL" sz="4000" dirty="0">
                <a:latin typeface="Aptos" panose="020B0004020202020204" pitchFamily="34" charset="0"/>
              </a:rPr>
              <a:t> optie in openbare certificaten (Chrome Root Policy). Public PKI wordt enkel nog voor serverauthenticatie gebruikt (EKU).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b="1" dirty="0">
                <a:latin typeface="Aptos" panose="020B0004020202020204" pitchFamily="34" charset="0"/>
              </a:rPr>
              <a:t>Gevolg: </a:t>
            </a:r>
            <a:r>
              <a:rPr lang="nl-NL" sz="4000" dirty="0">
                <a:latin typeface="Aptos" panose="020B0004020202020204" pitchFamily="34" charset="0"/>
              </a:rPr>
              <a:t>Bij vernieuwing van openbare certificaten verliezen ketenpartners de optie voor EKU en breken deze </a:t>
            </a:r>
            <a:r>
              <a:rPr lang="nl-NL" sz="4000" dirty="0" err="1">
                <a:latin typeface="Aptos" panose="020B0004020202020204" pitchFamily="34" charset="0"/>
              </a:rPr>
              <a:t>mTLS</a:t>
            </a:r>
            <a:r>
              <a:rPr lang="nl-NL" sz="4000" dirty="0">
                <a:latin typeface="Aptos" panose="020B0004020202020204" pitchFamily="34" charset="0"/>
              </a:rPr>
              <a:t> verbindingen af, omdat EKU enkel toegestaan is.</a:t>
            </a:r>
            <a:endParaRPr lang="nl-NL" sz="4000" b="1" dirty="0">
              <a:latin typeface="Aptos" panose="020B0004020202020204" pitchFamily="34" charset="0"/>
            </a:endParaRPr>
          </a:p>
          <a:p>
            <a:endParaRPr lang="nl-NL" sz="4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438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42F5F-D2EB-37B0-9C1A-346B6EA2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755" y="1994966"/>
            <a:ext cx="21689664" cy="1293785"/>
          </a:xfrm>
        </p:spPr>
        <p:txBody>
          <a:bodyPr/>
          <a:lstStyle/>
          <a:p>
            <a:r>
              <a:rPr lang="nl-NL" dirty="0"/>
              <a:t>Strategische keuze rondom client-authenticatie in profiel [2]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BFE081B-B52D-B124-8ED5-E632B1EE8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5</a:t>
            </a:fld>
            <a:endParaRPr lang="nl-NL" dirty="0"/>
          </a:p>
        </p:txBody>
      </p:sp>
      <p:sp>
        <p:nvSpPr>
          <p:cNvPr id="4" name="Tijdelijke aanduiding voor tabel 3">
            <a:extLst>
              <a:ext uri="{FF2B5EF4-FFF2-40B4-BE49-F238E27FC236}">
                <a16:creationId xmlns:a16="http://schemas.microsoft.com/office/drawing/2014/main" id="{69A80988-EDD8-98BD-710F-02A2F9CC24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</a:rPr>
              <a:t>Oplossingsalternatieven</a:t>
            </a:r>
          </a:p>
          <a:p>
            <a:endParaRPr lang="nl-NL" sz="4000" dirty="0">
              <a:latin typeface="Aptos" panose="020B0004020202020204" pitchFamily="34" charset="0"/>
            </a:endParaRPr>
          </a:p>
          <a:p>
            <a:endParaRPr lang="nl-NL" sz="4000" b="1" dirty="0">
              <a:latin typeface="Aptos" panose="020B0004020202020204" pitchFamily="34" charset="0"/>
            </a:endParaRPr>
          </a:p>
          <a:p>
            <a:endParaRPr lang="nl-NL" sz="4000" b="1" dirty="0">
              <a:latin typeface="Aptos" panose="020B0004020202020204" pitchFamily="34" charset="0"/>
            </a:endParaRPr>
          </a:p>
          <a:p>
            <a:endParaRPr lang="nl-NL" sz="4000" b="1" dirty="0">
              <a:latin typeface="Aptos" panose="020B0004020202020204" pitchFamily="34" charset="0"/>
            </a:endParaRPr>
          </a:p>
          <a:p>
            <a:endParaRPr lang="nl-NL" sz="4000" b="1" dirty="0">
              <a:latin typeface="Aptos" panose="020B0004020202020204" pitchFamily="34" charset="0"/>
            </a:endParaRPr>
          </a:p>
          <a:p>
            <a:endParaRPr lang="nl-NL" sz="4000" b="1" dirty="0">
              <a:latin typeface="Aptos" panose="020B0004020202020204" pitchFamily="34" charset="0"/>
            </a:endParaRPr>
          </a:p>
          <a:p>
            <a:r>
              <a:rPr lang="nl-NL" sz="4000" b="1" dirty="0">
                <a:latin typeface="Aptos" panose="020B0004020202020204" pitchFamily="34" charset="0"/>
              </a:rPr>
              <a:t>De leden van het Technisch Overleg worden gevraagd om een beslissing te nemen over: </a:t>
            </a:r>
          </a:p>
          <a:p>
            <a:pPr marL="742950" indent="-742950">
              <a:buFont typeface="+mj-lt"/>
              <a:buAutoNum type="arabicPeriod"/>
            </a:pPr>
            <a:r>
              <a:rPr lang="nl-NL" sz="4000" dirty="0">
                <a:latin typeface="Aptos" panose="020B0004020202020204" pitchFamily="34" charset="0"/>
              </a:rPr>
              <a:t>Het behouden of verwijderen van </a:t>
            </a:r>
            <a:r>
              <a:rPr lang="nl-NL" sz="4000" b="1" i="1" dirty="0" err="1">
                <a:latin typeface="Aptos" panose="020B0004020202020204" pitchFamily="34" charset="0"/>
              </a:rPr>
              <a:t>tls_client_auth</a:t>
            </a:r>
            <a:r>
              <a:rPr lang="nl-NL" sz="4000" b="1" i="1" dirty="0">
                <a:latin typeface="Aptos" panose="020B0004020202020204" pitchFamily="34" charset="0"/>
              </a:rPr>
              <a:t> [rfc8705]</a:t>
            </a:r>
            <a:r>
              <a:rPr lang="nl-NL" sz="4000" dirty="0">
                <a:latin typeface="Aptos" panose="020B0004020202020204" pitchFamily="34" charset="0"/>
              </a:rPr>
              <a:t> uit het </a:t>
            </a:r>
            <a:r>
              <a:rPr lang="nl-NL" sz="4000" dirty="0" err="1">
                <a:latin typeface="Aptos" panose="020B0004020202020204" pitchFamily="34" charset="0"/>
              </a:rPr>
              <a:t>NLGov</a:t>
            </a:r>
            <a:r>
              <a:rPr lang="nl-NL" sz="4000" dirty="0">
                <a:latin typeface="Aptos" panose="020B0004020202020204" pitchFamily="34" charset="0"/>
              </a:rPr>
              <a:t> </a:t>
            </a:r>
            <a:r>
              <a:rPr lang="nl-NL" sz="4000" dirty="0" err="1">
                <a:latin typeface="Aptos" panose="020B0004020202020204" pitchFamily="34" charset="0"/>
              </a:rPr>
              <a:t>OAuth</a:t>
            </a:r>
            <a:r>
              <a:rPr lang="nl-NL" sz="4000" dirty="0">
                <a:latin typeface="Aptos" panose="020B0004020202020204" pitchFamily="34" charset="0"/>
              </a:rPr>
              <a:t> 2.0 profiel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  <a:p>
            <a:endParaRPr lang="nl-NL" sz="4000" dirty="0">
              <a:latin typeface="Aptos" panose="020B0004020202020204" pitchFamily="34" charset="0"/>
            </a:endParaRP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905E34D2-4BC9-763E-8B9E-C9B4EF0BF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561939"/>
              </p:ext>
            </p:extLst>
          </p:nvPr>
        </p:nvGraphicFramePr>
        <p:xfrm>
          <a:off x="4064528" y="4367179"/>
          <a:ext cx="1625811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9059">
                  <a:extLst>
                    <a:ext uri="{9D8B030D-6E8A-4147-A177-3AD203B41FA5}">
                      <a16:colId xmlns:a16="http://schemas.microsoft.com/office/drawing/2014/main" val="3120655517"/>
                    </a:ext>
                  </a:extLst>
                </a:gridCol>
                <a:gridCol w="8129059">
                  <a:extLst>
                    <a:ext uri="{9D8B030D-6E8A-4147-A177-3AD203B41FA5}">
                      <a16:colId xmlns:a16="http://schemas.microsoft.com/office/drawing/2014/main" val="4290367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sz="3000" dirty="0">
                          <a:latin typeface="Aptos" panose="020B0004020202020204" pitchFamily="34" charset="0"/>
                        </a:rPr>
                        <a:t>Optie A: </a:t>
                      </a:r>
                      <a:r>
                        <a:rPr lang="nl-NL" sz="3000" dirty="0" err="1">
                          <a:latin typeface="Aptos" panose="020B0004020202020204" pitchFamily="34" charset="0"/>
                        </a:rPr>
                        <a:t>tls_client_auth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verwijderen uit profiel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3000" dirty="0">
                          <a:latin typeface="Aptos" panose="020B0004020202020204" pitchFamily="34" charset="0"/>
                        </a:rPr>
                        <a:t>Optie B: </a:t>
                      </a:r>
                      <a:r>
                        <a:rPr lang="nl-NL" sz="3000" dirty="0" err="1">
                          <a:latin typeface="Aptos" panose="020B0004020202020204" pitchFamily="34" charset="0"/>
                        </a:rPr>
                        <a:t>tls_client_auth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behouden + Private CA verplichten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2835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3000" b="1" i="0" dirty="0">
                          <a:latin typeface="Aptos" panose="020B0004020202020204" pitchFamily="34" charset="0"/>
                        </a:rPr>
                        <a:t>Betreft: </a:t>
                      </a:r>
                      <a:r>
                        <a:rPr lang="nl-NL" sz="3000" b="1" i="1" dirty="0" err="1">
                          <a:latin typeface="Aptos" panose="020B0004020202020204" pitchFamily="34" charset="0"/>
                        </a:rPr>
                        <a:t>mTLS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als optie uit het profiel halen. </a:t>
                      </a:r>
                      <a:r>
                        <a:rPr lang="nl-NL" sz="3000" b="1" i="1" dirty="0" err="1">
                          <a:latin typeface="Aptos" panose="020B0004020202020204" pitchFamily="34" charset="0"/>
                        </a:rPr>
                        <a:t>private_key_jwt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wordt de </a:t>
                      </a:r>
                      <a:r>
                        <a:rPr lang="nl-NL" sz="3000" i="1" dirty="0">
                          <a:latin typeface="Aptos" panose="020B0004020202020204" pitchFamily="34" charset="0"/>
                        </a:rPr>
                        <a:t>enige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methode.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3000" b="1" dirty="0">
                          <a:latin typeface="Aptos" panose="020B0004020202020204" pitchFamily="34" charset="0"/>
                        </a:rPr>
                        <a:t>Betreft: </a:t>
                      </a:r>
                      <a:r>
                        <a:rPr lang="nl-NL" sz="3000" dirty="0" err="1">
                          <a:latin typeface="Aptos" panose="020B0004020202020204" pitchFamily="34" charset="0"/>
                        </a:rPr>
                        <a:t>mTLS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behouden, maar expliciet specificeren dat dit </a:t>
                      </a:r>
                      <a:r>
                        <a:rPr lang="nl-NL" sz="30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verplicht via een Private CA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(bijv. </a:t>
                      </a:r>
                      <a:r>
                        <a:rPr lang="nl-NL" sz="3000" dirty="0" err="1">
                          <a:latin typeface="Aptos" panose="020B0004020202020204" pitchFamily="34" charset="0"/>
                        </a:rPr>
                        <a:t>PKIo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) moet.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906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3000" b="1" dirty="0">
                          <a:latin typeface="Aptos" panose="020B0004020202020204" pitchFamily="34" charset="0"/>
                        </a:rPr>
                        <a:t>Voordeel: </a:t>
                      </a:r>
                      <a:r>
                        <a:rPr lang="nl-NL" sz="3000" b="0" dirty="0">
                          <a:latin typeface="Aptos" panose="020B0004020202020204" pitchFamily="34" charset="0"/>
                        </a:rPr>
                        <a:t>Onafhankelijk van Chrome Root Policy en voorkomt directe uitval van koppelingen </a:t>
                      </a:r>
                      <a:endParaRPr lang="nl-NL" sz="30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3000" b="1" dirty="0">
                          <a:latin typeface="Aptos" panose="020B0004020202020204" pitchFamily="34" charset="0"/>
                        </a:rPr>
                        <a:t>Voordelen: </a:t>
                      </a:r>
                      <a:r>
                        <a:rPr lang="nl-NL" sz="3000" dirty="0" err="1">
                          <a:latin typeface="Aptos" panose="020B0004020202020204" pitchFamily="34" charset="0"/>
                        </a:rPr>
                        <a:t>mTLS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 </a:t>
                      </a:r>
                      <a:r>
                        <a:rPr lang="nl-NL" sz="3000">
                          <a:latin typeface="Aptos" panose="020B0004020202020204" pitchFamily="34" charset="0"/>
                        </a:rPr>
                        <a:t>wordt behouden </a:t>
                      </a:r>
                      <a:r>
                        <a:rPr lang="nl-NL" sz="3000" dirty="0">
                          <a:latin typeface="Aptos" panose="020B0004020202020204" pitchFamily="34" charset="0"/>
                        </a:rPr>
                        <a:t>voor clientauthenticatie</a:t>
                      </a:r>
                      <a:endParaRPr lang="nl-NL" sz="30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2048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sz="3000" b="1" dirty="0">
                          <a:latin typeface="Aptos" panose="020B0004020202020204" pitchFamily="34" charset="0"/>
                        </a:rPr>
                        <a:t>Kanttekening: </a:t>
                      </a:r>
                      <a:r>
                        <a:rPr lang="nl-NL" sz="3000" b="0" dirty="0">
                          <a:latin typeface="Aptos" panose="020B0004020202020204" pitchFamily="34" charset="0"/>
                        </a:rPr>
                        <a:t>Verliest clientauthenticatie op transportniveau</a:t>
                      </a:r>
                      <a:endParaRPr lang="nl-NL" sz="30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3000" b="1" dirty="0">
                          <a:latin typeface="Aptos" panose="020B0004020202020204" pitchFamily="34" charset="0"/>
                        </a:rPr>
                        <a:t>Kanttekening: </a:t>
                      </a:r>
                      <a:r>
                        <a:rPr lang="nl-NL" sz="3000" b="0" dirty="0">
                          <a:latin typeface="Aptos" panose="020B0004020202020204" pitchFamily="34" charset="0"/>
                        </a:rPr>
                        <a:t>Dwingt alle ketenpartners in een private CA structuur</a:t>
                      </a:r>
                      <a:endParaRPr lang="nl-NL" sz="30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858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2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54D2A3-58D8-CA3E-9198-48F80906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Thin</a:t>
            </a:r>
            <a:r>
              <a:rPr lang="nl-NL" dirty="0"/>
              <a:t> Profile </a:t>
            </a:r>
            <a:r>
              <a:rPr lang="nl-NL" dirty="0" err="1"/>
              <a:t>NLGov</a:t>
            </a:r>
            <a:r>
              <a:rPr lang="nl-NL" dirty="0"/>
              <a:t> </a:t>
            </a:r>
            <a:r>
              <a:rPr lang="nl-NL" dirty="0" err="1"/>
              <a:t>OAuth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3A7B999-6EA5-C44C-3574-1E662D3C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6</a:t>
            </a:fld>
            <a:endParaRPr lang="nl-NL" dirty="0"/>
          </a:p>
        </p:txBody>
      </p:sp>
      <p:sp>
        <p:nvSpPr>
          <p:cNvPr id="4" name="Tijdelijke aanduiding voor tabel 3">
            <a:extLst>
              <a:ext uri="{FF2B5EF4-FFF2-40B4-BE49-F238E27FC236}">
                <a16:creationId xmlns:a16="http://schemas.microsoft.com/office/drawing/2014/main" id="{A98CEF09-9933-FFCC-E207-A6641333435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r>
              <a:rPr lang="nl-NL" sz="4000" b="1" dirty="0">
                <a:latin typeface="Aptos" panose="020B0004020202020204" pitchFamily="34" charset="0"/>
              </a:rPr>
              <a:t>De leden van het Technisch Overleg worden gevraagd om een beslissing te nemen over:</a:t>
            </a:r>
          </a:p>
          <a:p>
            <a:pPr marL="742950" indent="-742950">
              <a:buFont typeface="+mj-lt"/>
              <a:buAutoNum type="arabicPeriod"/>
            </a:pPr>
            <a:r>
              <a:rPr lang="nl-NL" sz="4000" dirty="0">
                <a:latin typeface="Aptos" panose="020B0004020202020204" pitchFamily="34" charset="0"/>
              </a:rPr>
              <a:t>het vorm van het profiel: Addendum op </a:t>
            </a:r>
            <a:r>
              <a:rPr lang="nl-NL" sz="4000" dirty="0" err="1">
                <a:latin typeface="Aptos" panose="020B0004020202020204" pitchFamily="34" charset="0"/>
              </a:rPr>
              <a:t>iGov</a:t>
            </a:r>
            <a:r>
              <a:rPr lang="nl-NL" sz="4000" dirty="0">
                <a:latin typeface="Aptos" panose="020B0004020202020204" pitchFamily="34" charset="0"/>
              </a:rPr>
              <a:t> of </a:t>
            </a:r>
            <a:r>
              <a:rPr lang="nl-NL" sz="4000" dirty="0" err="1">
                <a:latin typeface="Aptos" panose="020B0004020202020204" pitchFamily="34" charset="0"/>
              </a:rPr>
              <a:t>fork</a:t>
            </a:r>
            <a:r>
              <a:rPr lang="nl-NL" sz="4000" dirty="0">
                <a:latin typeface="Aptos" panose="020B0004020202020204" pitchFamily="34" charset="0"/>
              </a:rPr>
              <a:t> behouden?</a:t>
            </a:r>
          </a:p>
          <a:p>
            <a:endParaRPr lang="nl-NL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sz="4000" dirty="0">
                <a:hlinkClick r:id="rId2"/>
              </a:rPr>
              <a:t>Preview </a:t>
            </a:r>
            <a:r>
              <a:rPr lang="nl-NL" sz="4000" dirty="0" err="1">
                <a:hlinkClick r:id="rId2"/>
              </a:rPr>
              <a:t>Thin</a:t>
            </a:r>
            <a:r>
              <a:rPr lang="nl-NL" sz="4000" dirty="0">
                <a:hlinkClick r:id="rId2"/>
              </a:rPr>
              <a:t> profile #141</a:t>
            </a:r>
            <a:endParaRPr lang="nl-NL" sz="4000" dirty="0"/>
          </a:p>
        </p:txBody>
      </p:sp>
    </p:spTree>
    <p:extLst>
      <p:ext uri="{BB962C8B-B14F-4D97-AF65-F5344CB8AC3E}">
        <p14:creationId xmlns:p14="http://schemas.microsoft.com/office/powerpoint/2010/main" val="192208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674FD-E692-8E77-8167-CAC7F67DD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FSC &amp; </a:t>
            </a:r>
            <a:r>
              <a:rPr lang="nl-NL" dirty="0" err="1"/>
              <a:t>NLGov</a:t>
            </a:r>
            <a:r>
              <a:rPr lang="nl-NL" dirty="0"/>
              <a:t> </a:t>
            </a:r>
            <a:r>
              <a:rPr lang="nl-NL" dirty="0" err="1"/>
              <a:t>OAuth</a:t>
            </a:r>
            <a:r>
              <a:rPr lang="nl-NL" dirty="0"/>
              <a:t> samenhang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D6A045B-F8AD-9102-F1FF-A3334A9F5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7</a:t>
            </a:fld>
            <a:endParaRPr lang="nl-NL" dirty="0"/>
          </a:p>
        </p:txBody>
      </p:sp>
      <p:sp>
        <p:nvSpPr>
          <p:cNvPr id="4" name="Tijdelijke aanduiding voor tabel 3">
            <a:extLst>
              <a:ext uri="{FF2B5EF4-FFF2-40B4-BE49-F238E27FC236}">
                <a16:creationId xmlns:a16="http://schemas.microsoft.com/office/drawing/2014/main" id="{06DC93A0-392C-240D-C45C-5006B9B5BD9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</a:rPr>
              <a:t>Status onderzoek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</a:rPr>
              <a:t>Toekomstvisie</a:t>
            </a:r>
          </a:p>
        </p:txBody>
      </p:sp>
    </p:spTree>
    <p:extLst>
      <p:ext uri="{BB962C8B-B14F-4D97-AF65-F5344CB8AC3E}">
        <p14:creationId xmlns:p14="http://schemas.microsoft.com/office/powerpoint/2010/main" val="2965752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A0E3FC-5509-79A4-C2B9-BAD2B310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Inleidend document profiel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0301168-4784-C915-2351-17EB8144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8</a:t>
            </a:fld>
            <a:endParaRPr lang="nl-NL" dirty="0"/>
          </a:p>
        </p:txBody>
      </p:sp>
      <p:sp>
        <p:nvSpPr>
          <p:cNvPr id="4" name="Tijdelijke aanduiding voor tabel 3">
            <a:extLst>
              <a:ext uri="{FF2B5EF4-FFF2-40B4-BE49-F238E27FC236}">
                <a16:creationId xmlns:a16="http://schemas.microsoft.com/office/drawing/2014/main" id="{876159B6-9F2F-AC1C-8920-22BDB18A2A9B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</a:rPr>
              <a:t>Wens ontstaan voor achtergrondinformatie over het profiel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dirty="0" err="1">
                <a:latin typeface="Aptos" panose="020B0004020202020204" pitchFamily="34" charset="0"/>
              </a:rPr>
              <a:t>Enabler</a:t>
            </a:r>
            <a:r>
              <a:rPr lang="nl-NL" sz="4000" dirty="0">
                <a:latin typeface="Aptos" panose="020B0004020202020204" pitchFamily="34" charset="0"/>
              </a:rPr>
              <a:t> voor gebruiksvriendelijkheid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</a:rPr>
              <a:t>Status inleidend document: </a:t>
            </a:r>
            <a:r>
              <a:rPr lang="nl-NL" sz="4000" dirty="0" err="1">
                <a:latin typeface="Aptos" panose="020B0004020202020204" pitchFamily="34" charset="0"/>
              </a:rPr>
              <a:t>Work</a:t>
            </a:r>
            <a:r>
              <a:rPr lang="nl-NL" sz="4000" dirty="0">
                <a:latin typeface="Aptos" panose="020B0004020202020204" pitchFamily="34" charset="0"/>
              </a:rPr>
              <a:t> in </a:t>
            </a:r>
            <a:r>
              <a:rPr lang="nl-NL" sz="4000" dirty="0" err="1">
                <a:latin typeface="Aptos" panose="020B0004020202020204" pitchFamily="34" charset="0"/>
              </a:rPr>
              <a:t>Progress</a:t>
            </a:r>
            <a:endParaRPr lang="nl-NL" sz="4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4000" dirty="0">
                <a:latin typeface="Aptos" panose="020B0004020202020204" pitchFamily="34" charset="0"/>
                <a:hlinkClick r:id="rId2"/>
              </a:rPr>
              <a:t>Bestaand inleidend document</a:t>
            </a:r>
            <a:endParaRPr lang="nl-NL" sz="4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  <a:p>
            <a:r>
              <a:rPr lang="nl-NL" sz="4000" b="1" dirty="0">
                <a:latin typeface="Aptos" panose="020B0004020202020204" pitchFamily="34" charset="0"/>
              </a:rPr>
              <a:t>De leden van het Technisch Overleg worden gevraagd om in te stemmen met:</a:t>
            </a:r>
          </a:p>
          <a:p>
            <a:pPr marL="742950" indent="-742950">
              <a:buFont typeface="+mj-lt"/>
              <a:buAutoNum type="arabicPeriod"/>
            </a:pPr>
            <a:r>
              <a:rPr lang="nl-NL" sz="4000" dirty="0">
                <a:latin typeface="Aptos" panose="020B0004020202020204" pitchFamily="34" charset="0"/>
              </a:rPr>
              <a:t>Het afronden van het inleidend document</a:t>
            </a:r>
          </a:p>
          <a:p>
            <a:pPr marL="742950" indent="-742950">
              <a:buFont typeface="+mj-lt"/>
              <a:buAutoNum type="arabicPeriod"/>
            </a:pPr>
            <a:r>
              <a:rPr lang="nl-NL" sz="4000" dirty="0">
                <a:latin typeface="Aptos" panose="020B0004020202020204" pitchFamily="34" charset="0"/>
              </a:rPr>
              <a:t>Dit document compliant te maken met het huidig </a:t>
            </a:r>
            <a:r>
              <a:rPr lang="nl-NL" sz="4000" dirty="0" err="1">
                <a:latin typeface="Aptos" panose="020B0004020202020204" pitchFamily="34" charset="0"/>
              </a:rPr>
              <a:t>NLGov</a:t>
            </a:r>
            <a:r>
              <a:rPr lang="nl-NL" sz="4000" dirty="0">
                <a:latin typeface="Aptos" panose="020B0004020202020204" pitchFamily="34" charset="0"/>
              </a:rPr>
              <a:t> </a:t>
            </a:r>
            <a:r>
              <a:rPr lang="nl-NL" sz="4000" dirty="0" err="1">
                <a:latin typeface="Aptos" panose="020B0004020202020204" pitchFamily="34" charset="0"/>
              </a:rPr>
              <a:t>OAuth</a:t>
            </a:r>
            <a:r>
              <a:rPr lang="nl-NL" sz="4000" dirty="0">
                <a:latin typeface="Aptos" panose="020B0004020202020204" pitchFamily="34" charset="0"/>
              </a:rPr>
              <a:t> 2.0 profiel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4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553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BD74D-813E-1E15-5817-AAA762B5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Overige onderwerpen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41F8126-D4B3-851D-46C8-AB03B22D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012CB-14D3-4B29-B9BE-EBD198EAE235}" type="slidenum">
              <a:rPr lang="nl-NL" smtClean="0"/>
              <a:t>9</a:t>
            </a:fld>
            <a:endParaRPr lang="nl-NL" dirty="0"/>
          </a:p>
        </p:txBody>
      </p:sp>
      <p:sp>
        <p:nvSpPr>
          <p:cNvPr id="4" name="Tijdelijke aanduiding voor tabel 3">
            <a:extLst>
              <a:ext uri="{FF2B5EF4-FFF2-40B4-BE49-F238E27FC236}">
                <a16:creationId xmlns:a16="http://schemas.microsoft.com/office/drawing/2014/main" id="{9AE56CDB-465D-16DC-0A84-F40DB818A892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40528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3CCD3E-02DC-D318-D09A-B763AFD2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Rondvragen</a:t>
            </a:r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765CDB28-4968-E9B6-8ED9-DB11E6C68C0E}"/>
              </a:ext>
            </a:extLst>
          </p:cNvPr>
          <p:cNvSpPr txBox="1"/>
          <p:nvPr/>
        </p:nvSpPr>
        <p:spPr>
          <a:xfrm>
            <a:off x="20878874" y="13122234"/>
            <a:ext cx="3420094" cy="49876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nl-NL" sz="2400" b="1" dirty="0">
                <a:solidFill>
                  <a:schemeClr val="bg1"/>
                </a:solidFill>
                <a:latin typeface="Aptos" panose="020B0004020202020204" pitchFamily="34" charset="0"/>
              </a:rPr>
              <a:t>Contact: </a:t>
            </a:r>
            <a:r>
              <a:rPr lang="nl-NL" sz="2400" b="1" dirty="0">
                <a:solidFill>
                  <a:schemeClr val="bg1"/>
                </a:solidFill>
                <a:latin typeface="Aptos" panose="020B00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api@logius.nl</a:t>
            </a:r>
            <a:endParaRPr lang="nl-NL" sz="24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224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ogius1">
      <a:dk1>
        <a:sysClr val="windowText" lastClr="000000"/>
      </a:dk1>
      <a:lt1>
        <a:sysClr val="window" lastClr="FFFFFF"/>
      </a:lt1>
      <a:dk2>
        <a:srgbClr val="39870C"/>
      </a:dk2>
      <a:lt2>
        <a:srgbClr val="E7E6E6"/>
      </a:lt2>
      <a:accent1>
        <a:srgbClr val="39870C"/>
      </a:accent1>
      <a:accent2>
        <a:srgbClr val="E17000"/>
      </a:accent2>
      <a:accent3>
        <a:srgbClr val="8FCAE7"/>
      </a:accent3>
      <a:accent4>
        <a:srgbClr val="FFB612"/>
      </a:accent4>
      <a:accent5>
        <a:srgbClr val="76D2B6"/>
      </a:accent5>
      <a:accent6>
        <a:srgbClr val="275937"/>
      </a:accent6>
      <a:hlink>
        <a:srgbClr val="0563C1"/>
      </a:hlink>
      <a:folHlink>
        <a:srgbClr val="954F72"/>
      </a:folHlink>
    </a:clrScheme>
    <a:fontScheme name="Logiu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sz="2400" dirty="0" err="1" smtClean="0"/>
        </a:defPPr>
      </a:lstStyle>
    </a:txDef>
  </a:objectDefaults>
  <a:extraClrSchemeLst/>
  <a:custClrLst>
    <a:custClr name="Groen">
      <a:srgbClr val="39870C"/>
    </a:custClr>
    <a:custClr name="Oranje">
      <a:srgbClr val="E17000"/>
    </a:custClr>
    <a:custClr name="Licht blauw">
      <a:srgbClr val="8FCAE7"/>
    </a:custClr>
    <a:custClr name="Geel">
      <a:srgbClr val="FFB612"/>
    </a:custClr>
    <a:custClr name="Mint groen">
      <a:srgbClr val="76D2B6"/>
    </a:custClr>
    <a:custClr name="Donker groen">
      <a:srgbClr val="275937"/>
    </a:custClr>
    <a:custClr name="wit">
      <a:srgbClr val="FFFFFF"/>
    </a:custClr>
    <a:custClr name="wit">
      <a:srgbClr val="FFFFFF"/>
    </a:custClr>
    <a:custClr name="wit">
      <a:srgbClr val="FFFFFF"/>
    </a:custClr>
    <a:custClr name="wit">
      <a:srgbClr val="FFFFFF"/>
    </a:custClr>
    <a:custClr name="Groen achtergrond">
      <a:srgbClr val="D7E7CE"/>
    </a:custClr>
    <a:custClr name="Oranje achtergrond">
      <a:srgbClr val="F9E2CC"/>
    </a:custClr>
    <a:custClr name="Licht blauw achtergrond">
      <a:srgbClr val="E9F4FA"/>
    </a:custClr>
    <a:custClr name="Geel achtergrond">
      <a:srgbClr val="FFF0D0"/>
    </a:custClr>
    <a:custClr name="Mint groen achtergrond">
      <a:srgbClr val="E4F6F0"/>
    </a:custClr>
    <a:custClr name="Donker groen achtergrond">
      <a:srgbClr val="D4DED7"/>
    </a:custClr>
    <a:custClr name="wit">
      <a:srgbClr val="FFFFFF"/>
    </a:custClr>
    <a:custClr name="wit">
      <a:srgbClr val="FFFFFF"/>
    </a:custClr>
    <a:custClr name="wit">
      <a:srgbClr val="FFFFFF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Logius-basis.potx" id="{8D478C09-9951-458B-AC9A-452CE5F3AD1A}" vid="{04410D83-B0F7-4032-98FF-F98D01A972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390</Words>
  <Application>Microsoft Office PowerPoint</Application>
  <PresentationFormat>Aangepast</PresentationFormat>
  <Paragraphs>59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Verdana</vt:lpstr>
      <vt:lpstr>Office Theme</vt:lpstr>
      <vt:lpstr>Technisch Overleg NLGov OAuth 2.0</vt:lpstr>
      <vt:lpstr>Mededelingen</vt:lpstr>
      <vt:lpstr>PowerPoint-presentatie</vt:lpstr>
      <vt:lpstr>Strategische keuze rondom client-authenticatie in profiel [1]</vt:lpstr>
      <vt:lpstr>Strategische keuze rondom client-authenticatie in profiel [2]</vt:lpstr>
      <vt:lpstr>Thin Profile NLGov OAuth</vt:lpstr>
      <vt:lpstr>FSC &amp; NLGov OAuth samenhang</vt:lpstr>
      <vt:lpstr>Inleidend document profiel</vt:lpstr>
      <vt:lpstr>Overige onderwerpen</vt:lpstr>
      <vt:lpstr>Rondvragen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Annette de Wit</dc:creator>
  <cp:lastModifiedBy>Barua, Nil</cp:lastModifiedBy>
  <cp:revision>186</cp:revision>
  <dcterms:created xsi:type="dcterms:W3CDTF">2021-08-25T10:40:13Z</dcterms:created>
  <dcterms:modified xsi:type="dcterms:W3CDTF">2026-09-30T22:03:41Z</dcterms:modified>
</cp:coreProperties>
</file>